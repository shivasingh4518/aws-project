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9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191F"/>
          </a:solidFill>
          <a:ln/>
        </p:spPr>
      </p:sp>
      <p:sp>
        <p:nvSpPr>
          <p:cNvPr id="3" name="Shape 1"/>
          <p:cNvSpPr/>
          <p:nvPr/>
        </p:nvSpPr>
        <p:spPr>
          <a:xfrm>
            <a:off x="8778240" y="0"/>
            <a:ext cx="3413455" cy="6858000"/>
          </a:xfrm>
          <a:prstGeom prst="rect">
            <a:avLst/>
          </a:prstGeom>
          <a:solidFill>
            <a:srgbClr val="232F3E"/>
          </a:solidFill>
          <a:ln/>
        </p:spPr>
      </p:sp>
      <p:sp>
        <p:nvSpPr>
          <p:cNvPr id="4" name="Shape 2"/>
          <p:cNvSpPr/>
          <p:nvPr/>
        </p:nvSpPr>
        <p:spPr>
          <a:xfrm>
            <a:off x="9052560" y="4846320"/>
            <a:ext cx="3108960" cy="3108960"/>
          </a:xfrm>
          <a:prstGeom prst="ellipse">
            <a:avLst/>
          </a:prstGeom>
          <a:solidFill>
            <a:srgbClr val="FF9900"/>
          </a:solidFill>
          <a:ln/>
        </p:spPr>
      </p:sp>
      <p:sp>
        <p:nvSpPr>
          <p:cNvPr id="5" name="Shape 3"/>
          <p:cNvSpPr/>
          <p:nvPr/>
        </p:nvSpPr>
        <p:spPr>
          <a:xfrm>
            <a:off x="10561320" y="685800"/>
            <a:ext cx="1554480" cy="1554480"/>
          </a:xfrm>
          <a:prstGeom prst="ellipse">
            <a:avLst/>
          </a:prstGeom>
          <a:solidFill>
            <a:srgbClr val="3B4552"/>
          </a:solidFill>
          <a:ln/>
        </p:spPr>
      </p:sp>
      <p:sp>
        <p:nvSpPr>
          <p:cNvPr id="6" name="Text 4"/>
          <p:cNvSpPr txBox="1"/>
          <p:nvPr/>
        </p:nvSpPr>
        <p:spPr>
          <a:xfrm>
            <a:off x="731520" y="1965960"/>
            <a:ext cx="7315200" cy="320040"/>
          </a:xfrm>
          <a:prstGeom prst="rect">
            <a:avLst/>
          </a:prstGeom>
          <a:noFill/>
          <a:ln/>
        </p:spPr>
        <p:txBody>
          <a:bodyPr wrap="square" lIns="0" tIns="0" rIns="0" bIns="0" rtlCol="0" anchor="ctr"/>
          <a:lstStyle/>
          <a:p>
            <a:pPr indent="0" marL="0">
              <a:buNone/>
            </a:pPr>
            <a:r>
              <a:rPr lang="en-US" sz="1400" b="1" spc="300" kern="0" dirty="0">
                <a:solidFill>
                  <a:srgbClr val="FF9900"/>
                </a:solidFill>
                <a:latin typeface="Calibri" pitchFamily="34" charset="0"/>
                <a:ea typeface="Calibri" pitchFamily="34" charset="-122"/>
                <a:cs typeface="Calibri" pitchFamily="34" charset="-120"/>
              </a:rPr>
              <a:t>AWS IDENTITY AND ACCESS MANAGEMENT</a:t>
            </a:r>
            <a:endParaRPr lang="en-US" sz="1400" dirty="0"/>
          </a:p>
        </p:txBody>
      </p:sp>
      <p:sp>
        <p:nvSpPr>
          <p:cNvPr id="7" name="Text 5"/>
          <p:cNvSpPr txBox="1"/>
          <p:nvPr/>
        </p:nvSpPr>
        <p:spPr>
          <a:xfrm>
            <a:off x="713232" y="2331720"/>
            <a:ext cx="7680960" cy="1920240"/>
          </a:xfrm>
          <a:prstGeom prst="rect">
            <a:avLst/>
          </a:prstGeom>
          <a:noFill/>
          <a:ln/>
        </p:spPr>
        <p:txBody>
          <a:bodyPr wrap="square" lIns="0" tIns="0" rIns="0" bIns="0" rtlCol="0" anchor="ctr"/>
          <a:lstStyle/>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Creating IAM Groups &amp;</a:t>
            </a:r>
            <a:endParaRPr lang="en-US" sz="4200" dirty="0"/>
          </a:p>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Assigning Permissions</a:t>
            </a:r>
            <a:endParaRPr lang="en-US" sz="4200" dirty="0"/>
          </a:p>
        </p:txBody>
      </p:sp>
      <p:sp>
        <p:nvSpPr>
          <p:cNvPr id="8" name="Text 6"/>
          <p:cNvSpPr txBox="1"/>
          <p:nvPr/>
        </p:nvSpPr>
        <p:spPr>
          <a:xfrm>
            <a:off x="731520" y="4343400"/>
            <a:ext cx="6949440" cy="822960"/>
          </a:xfrm>
          <a:prstGeom prst="rect">
            <a:avLst/>
          </a:prstGeom>
          <a:noFill/>
          <a:ln/>
        </p:spPr>
        <p:txBody>
          <a:bodyPr wrap="square" lIns="0" tIns="0" rIns="0" bIns="0" rtlCol="0" anchor="ctr"/>
          <a:lstStyle/>
          <a:p>
            <a:pPr indent="0" marL="0">
              <a:lnSpc>
                <a:spcPts val="2200"/>
              </a:lnSpc>
              <a:buNone/>
            </a:pPr>
            <a:r>
              <a:rPr lang="en-US" sz="1500" dirty="0">
                <a:solidFill>
                  <a:srgbClr val="C7CCD3"/>
                </a:solidFill>
                <a:latin typeface="Calibri" pitchFamily="34" charset="0"/>
                <a:ea typeface="Calibri" pitchFamily="34" charset="-122"/>
                <a:cs typeface="Calibri" pitchFamily="34" charset="-120"/>
              </a:rPr>
              <a:t>A hands-on, screenshot-guided walkthrough of the AWS Management</a:t>
            </a:r>
            <a:endParaRPr lang="en-US" sz="1500" dirty="0"/>
          </a:p>
          <a:p>
            <a:pPr indent="0" marL="0">
              <a:lnSpc>
                <a:spcPts val="2200"/>
              </a:lnSpc>
              <a:buNone/>
            </a:pPr>
            <a:r>
              <a:rPr lang="en-US" sz="1500" dirty="0">
                <a:solidFill>
                  <a:srgbClr val="C7CCD3"/>
                </a:solidFill>
                <a:latin typeface="Calibri" pitchFamily="34" charset="0"/>
                <a:ea typeface="Calibri" pitchFamily="34" charset="-122"/>
                <a:cs typeface="Calibri" pitchFamily="34" charset="-120"/>
              </a:rPr>
              <a:t>Console — from opening IAM to assigning users their permissions.</a:t>
            </a:r>
            <a:endParaRPr lang="en-US" sz="1500" dirty="0"/>
          </a:p>
        </p:txBody>
      </p:sp>
      <p:sp>
        <p:nvSpPr>
          <p:cNvPr id="9" name="Shape 7"/>
          <p:cNvSpPr/>
          <p:nvPr/>
        </p:nvSpPr>
        <p:spPr>
          <a:xfrm>
            <a:off x="749808" y="5349240"/>
            <a:ext cx="1005840" cy="0"/>
          </a:xfrm>
          <a:prstGeom prst="line">
            <a:avLst/>
          </a:prstGeom>
          <a:noFill/>
          <a:ln w="38100">
            <a:solidFill>
              <a:srgbClr val="FF9900"/>
            </a:solidFill>
            <a:prstDash val="solid"/>
          </a:ln>
        </p:spPr>
      </p:sp>
      <p:sp>
        <p:nvSpPr>
          <p:cNvPr id="10" name="Text 8"/>
          <p:cNvSpPr txBox="1"/>
          <p:nvPr/>
        </p:nvSpPr>
        <p:spPr>
          <a:xfrm>
            <a:off x="731520" y="5532120"/>
            <a:ext cx="5486400" cy="320040"/>
          </a:xfrm>
          <a:prstGeom prst="rect">
            <a:avLst/>
          </a:prstGeom>
          <a:noFill/>
          <a:ln/>
        </p:spPr>
        <p:txBody>
          <a:bodyPr wrap="square" lIns="0" tIns="0" rIns="0" bIns="0" rtlCol="0" anchor="ctr"/>
          <a:lstStyle/>
          <a:p>
            <a:pPr indent="0" marL="0">
              <a:buNone/>
            </a:pPr>
            <a:r>
              <a:rPr lang="en-US" sz="1200" dirty="0">
                <a:solidFill>
                  <a:srgbClr val="8B93A0"/>
                </a:solidFill>
                <a:latin typeface="Calibri" pitchFamily="34" charset="0"/>
                <a:ea typeface="Calibri" pitchFamily="34" charset="-122"/>
                <a:cs typeface="Calibri" pitchFamily="34" charset="-120"/>
              </a:rPr>
              <a:t>Prepared for: AWS Console Walkthrough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300" b="1" spc="200" kern="0" dirty="0">
                <a:solidFill>
                  <a:srgbClr val="FF9900"/>
                </a:solidFill>
                <a:latin typeface="Calibri" pitchFamily="34" charset="0"/>
                <a:ea typeface="Calibri" pitchFamily="34" charset="-122"/>
                <a:cs typeface="Calibri" pitchFamily="34" charset="-120"/>
              </a:rPr>
              <a:t>OVERVIEW</a:t>
            </a:r>
            <a:endParaRPr lang="en-US" sz="1300" dirty="0"/>
          </a:p>
        </p:txBody>
      </p:sp>
      <p:sp>
        <p:nvSpPr>
          <p:cNvPr id="3" name="Text 1"/>
          <p:cNvSpPr txBox="1"/>
          <p:nvPr/>
        </p:nvSpPr>
        <p:spPr>
          <a:xfrm>
            <a:off x="548640" y="566928"/>
            <a:ext cx="10789920" cy="566928"/>
          </a:xfrm>
          <a:prstGeom prst="rect">
            <a:avLst/>
          </a:prstGeom>
          <a:noFill/>
          <a:ln/>
        </p:spPr>
        <p:txBody>
          <a:bodyPr wrap="square" lIns="0" tIns="0" rIns="0" bIns="0" rtlCol="0" anchor="ctr"/>
          <a:lstStyle/>
          <a:p>
            <a:pPr indent="0" marL="0">
              <a:buNone/>
            </a:pPr>
            <a:r>
              <a:rPr lang="en-US" sz="3000" b="1" dirty="0">
                <a:solidFill>
                  <a:srgbClr val="232F3E"/>
                </a:solidFill>
                <a:latin typeface="Cambria" pitchFamily="34" charset="0"/>
                <a:ea typeface="Cambria" pitchFamily="34" charset="-122"/>
                <a:cs typeface="Cambria" pitchFamily="34" charset="-120"/>
              </a:rPr>
              <a:t>What We'll Walk Through</a:t>
            </a:r>
            <a:endParaRPr lang="en-US" sz="3000" dirty="0"/>
          </a:p>
        </p:txBody>
      </p:sp>
      <p:sp>
        <p:nvSpPr>
          <p:cNvPr id="4" name="Shape 2"/>
          <p:cNvSpPr/>
          <p:nvPr/>
        </p:nvSpPr>
        <p:spPr>
          <a:xfrm>
            <a:off x="548640" y="1170432"/>
            <a:ext cx="11091672" cy="0"/>
          </a:xfrm>
          <a:prstGeom prst="line">
            <a:avLst/>
          </a:prstGeom>
          <a:noFill/>
          <a:ln w="12700">
            <a:solidFill>
              <a:srgbClr val="DDE1E6"/>
            </a:solidFill>
            <a:prstDash val="solid"/>
          </a:ln>
        </p:spPr>
      </p:sp>
      <p:sp>
        <p:nvSpPr>
          <p:cNvPr id="5" name="Text 3"/>
          <p:cNvSpPr txBox="1"/>
          <p:nvPr/>
        </p:nvSpPr>
        <p:spPr>
          <a:xfrm>
            <a:off x="548640" y="1371600"/>
            <a:ext cx="10881360" cy="548640"/>
          </a:xfrm>
          <a:prstGeom prst="rect">
            <a:avLst/>
          </a:prstGeom>
          <a:noFill/>
          <a:ln/>
        </p:spPr>
        <p:txBody>
          <a:bodyPr wrap="square" lIns="0" tIns="0" rIns="0" bIns="0" rtlCol="0" anchor="ctr"/>
          <a:lstStyle/>
          <a:p>
            <a:pPr indent="0" marL="0">
              <a:lnSpc>
                <a:spcPts val="2000"/>
              </a:lnSpc>
              <a:buNone/>
            </a:pPr>
            <a:r>
              <a:rPr lang="en-US" sz="1400" dirty="0">
                <a:solidFill>
                  <a:srgbClr val="6B7480"/>
                </a:solidFill>
                <a:latin typeface="Calibri" pitchFamily="34" charset="0"/>
                <a:ea typeface="Calibri" pitchFamily="34" charset="-122"/>
                <a:cs typeface="Calibri" pitchFamily="34" charset="-120"/>
              </a:rPr>
              <a:t>IAM groups let you attach permissions once and apply them to many users — instead of managing policies per user. This deck follows one complete workflow end to end.</a:t>
            </a:r>
            <a:endParaRPr lang="en-US" sz="1400" dirty="0"/>
          </a:p>
        </p:txBody>
      </p:sp>
      <p:sp>
        <p:nvSpPr>
          <p:cNvPr id="6" name="Shape 4"/>
          <p:cNvSpPr/>
          <p:nvPr/>
        </p:nvSpPr>
        <p:spPr>
          <a:xfrm>
            <a:off x="548640" y="2148840"/>
            <a:ext cx="3611880" cy="1691640"/>
          </a:xfrm>
          <a:prstGeom prst="roundRect">
            <a:avLst>
              <a:gd name="adj" fmla="val 4324"/>
            </a:avLst>
          </a:prstGeom>
          <a:solidFill>
            <a:srgbClr val="F5F6F8"/>
          </a:solidFill>
          <a:ln w="12700">
            <a:solidFill>
              <a:srgbClr val="DDE1E6"/>
            </a:solidFill>
            <a:prstDash val="solid"/>
          </a:ln>
        </p:spPr>
      </p:sp>
      <p:sp>
        <p:nvSpPr>
          <p:cNvPr id="7" name="Shape 5"/>
          <p:cNvSpPr/>
          <p:nvPr/>
        </p:nvSpPr>
        <p:spPr>
          <a:xfrm>
            <a:off x="749808" y="2350008"/>
            <a:ext cx="457200" cy="457200"/>
          </a:xfrm>
          <a:prstGeom prst="ellipse">
            <a:avLst/>
          </a:prstGeom>
          <a:solidFill>
            <a:srgbClr val="FF9900"/>
          </a:solidFill>
          <a:ln/>
        </p:spPr>
      </p:sp>
      <p:sp>
        <p:nvSpPr>
          <p:cNvPr id="8" name="Text 6"/>
          <p:cNvSpPr txBox="1"/>
          <p:nvPr/>
        </p:nvSpPr>
        <p:spPr>
          <a:xfrm>
            <a:off x="749808" y="2350008"/>
            <a:ext cx="457200" cy="457200"/>
          </a:xfrm>
          <a:prstGeom prst="rect">
            <a:avLst/>
          </a:prstGeom>
          <a:noFill/>
          <a:ln/>
        </p:spPr>
        <p:txBody>
          <a:bodyPr wrap="square" lIns="0" tIns="0" rIns="0" bIns="0" rtlCol="0" anchor="ctr"/>
          <a:lstStyle/>
          <a:p>
            <a:pPr algn="ctr" indent="0" marL="0">
              <a:buNone/>
            </a:pPr>
            <a:r>
              <a:rPr lang="en-US" sz="2000" b="1" dirty="0">
                <a:solidFill>
                  <a:srgbClr val="16191F"/>
                </a:solidFill>
                <a:latin typeface="Calibri" pitchFamily="34" charset="0"/>
                <a:ea typeface="Calibri" pitchFamily="34" charset="-122"/>
                <a:cs typeface="Calibri" pitchFamily="34" charset="-120"/>
              </a:rPr>
              <a:t>1</a:t>
            </a:r>
            <a:endParaRPr lang="en-US" sz="2000" dirty="0"/>
          </a:p>
        </p:txBody>
      </p:sp>
      <p:sp>
        <p:nvSpPr>
          <p:cNvPr id="9" name="Text 7"/>
          <p:cNvSpPr txBox="1"/>
          <p:nvPr/>
        </p:nvSpPr>
        <p:spPr>
          <a:xfrm>
            <a:off x="1371600" y="2331720"/>
            <a:ext cx="2606040" cy="502920"/>
          </a:xfrm>
          <a:prstGeom prst="rect">
            <a:avLst/>
          </a:prstGeom>
          <a:noFill/>
          <a:ln/>
        </p:spPr>
        <p:txBody>
          <a:bodyPr wrap="square" lIns="0" tIns="0" rIns="0" bIns="0" rtlCol="0" anchor="ctr"/>
          <a:lstStyle/>
          <a:p>
            <a:pPr indent="0" marL="0">
              <a:buNone/>
            </a:pPr>
            <a:r>
              <a:rPr lang="en-US" sz="1450" b="1" dirty="0">
                <a:solidFill>
                  <a:srgbClr val="232F3E"/>
                </a:solidFill>
                <a:latin typeface="Calibri" pitchFamily="34" charset="0"/>
                <a:ea typeface="Calibri" pitchFamily="34" charset="-122"/>
                <a:cs typeface="Calibri" pitchFamily="34" charset="-120"/>
              </a:rPr>
              <a:t>Open the IAM Console</a:t>
            </a:r>
            <a:endParaRPr lang="en-US" sz="1450" dirty="0"/>
          </a:p>
        </p:txBody>
      </p:sp>
      <p:sp>
        <p:nvSpPr>
          <p:cNvPr id="10" name="Text 8"/>
          <p:cNvSpPr txBox="1"/>
          <p:nvPr/>
        </p:nvSpPr>
        <p:spPr>
          <a:xfrm>
            <a:off x="804672" y="2971800"/>
            <a:ext cx="3108960" cy="777240"/>
          </a:xfrm>
          <a:prstGeom prst="rect">
            <a:avLst/>
          </a:prstGeom>
          <a:noFill/>
          <a:ln/>
        </p:spPr>
        <p:txBody>
          <a:bodyPr wrap="square" lIns="0" tIns="0" rIns="0" bIns="0" rtlCol="0" anchor="ctr"/>
          <a:lstStyle/>
          <a:p>
            <a:pPr indent="0" marL="0">
              <a:lnSpc>
                <a:spcPts val="1500"/>
              </a:lnSpc>
              <a:buNone/>
            </a:pPr>
            <a:r>
              <a:rPr lang="en-US" sz="1150" dirty="0">
                <a:solidFill>
                  <a:srgbClr val="6B7480"/>
                </a:solidFill>
                <a:latin typeface="Calibri" pitchFamily="34" charset="0"/>
                <a:ea typeface="Calibri" pitchFamily="34" charset="-122"/>
                <a:cs typeface="Calibri" pitchFamily="34" charset="-120"/>
              </a:rPr>
              <a:t>Navigate to the IAM dashboard from AWS services.</a:t>
            </a:r>
            <a:endParaRPr lang="en-US" sz="1150" dirty="0"/>
          </a:p>
        </p:txBody>
      </p:sp>
      <p:sp>
        <p:nvSpPr>
          <p:cNvPr id="11" name="Shape 9"/>
          <p:cNvSpPr/>
          <p:nvPr/>
        </p:nvSpPr>
        <p:spPr>
          <a:xfrm>
            <a:off x="4297680" y="2148840"/>
            <a:ext cx="3611880" cy="1691640"/>
          </a:xfrm>
          <a:prstGeom prst="roundRect">
            <a:avLst>
              <a:gd name="adj" fmla="val 4324"/>
            </a:avLst>
          </a:prstGeom>
          <a:solidFill>
            <a:srgbClr val="F5F6F8"/>
          </a:solidFill>
          <a:ln w="12700">
            <a:solidFill>
              <a:srgbClr val="DDE1E6"/>
            </a:solidFill>
            <a:prstDash val="solid"/>
          </a:ln>
        </p:spPr>
      </p:sp>
      <p:sp>
        <p:nvSpPr>
          <p:cNvPr id="12" name="Shape 10"/>
          <p:cNvSpPr/>
          <p:nvPr/>
        </p:nvSpPr>
        <p:spPr>
          <a:xfrm>
            <a:off x="4498848" y="2350008"/>
            <a:ext cx="457200" cy="457200"/>
          </a:xfrm>
          <a:prstGeom prst="ellipse">
            <a:avLst/>
          </a:prstGeom>
          <a:solidFill>
            <a:srgbClr val="FF9900"/>
          </a:solidFill>
          <a:ln/>
        </p:spPr>
      </p:sp>
      <p:sp>
        <p:nvSpPr>
          <p:cNvPr id="13" name="Text 11"/>
          <p:cNvSpPr txBox="1"/>
          <p:nvPr/>
        </p:nvSpPr>
        <p:spPr>
          <a:xfrm>
            <a:off x="4498848" y="2350008"/>
            <a:ext cx="457200" cy="457200"/>
          </a:xfrm>
          <a:prstGeom prst="rect">
            <a:avLst/>
          </a:prstGeom>
          <a:noFill/>
          <a:ln/>
        </p:spPr>
        <p:txBody>
          <a:bodyPr wrap="square" lIns="0" tIns="0" rIns="0" bIns="0" rtlCol="0" anchor="ctr"/>
          <a:lstStyle/>
          <a:p>
            <a:pPr algn="ctr" indent="0" marL="0">
              <a:buNone/>
            </a:pPr>
            <a:r>
              <a:rPr lang="en-US" sz="2000" b="1" dirty="0">
                <a:solidFill>
                  <a:srgbClr val="16191F"/>
                </a:solidFill>
                <a:latin typeface="Calibri" pitchFamily="34" charset="0"/>
                <a:ea typeface="Calibri" pitchFamily="34" charset="-122"/>
                <a:cs typeface="Calibri" pitchFamily="34" charset="-120"/>
              </a:rPr>
              <a:t>2</a:t>
            </a:r>
            <a:endParaRPr lang="en-US" sz="2000" dirty="0"/>
          </a:p>
        </p:txBody>
      </p:sp>
      <p:sp>
        <p:nvSpPr>
          <p:cNvPr id="14" name="Text 12"/>
          <p:cNvSpPr txBox="1"/>
          <p:nvPr/>
        </p:nvSpPr>
        <p:spPr>
          <a:xfrm>
            <a:off x="5120640" y="2331720"/>
            <a:ext cx="2606040" cy="502920"/>
          </a:xfrm>
          <a:prstGeom prst="rect">
            <a:avLst/>
          </a:prstGeom>
          <a:noFill/>
          <a:ln/>
        </p:spPr>
        <p:txBody>
          <a:bodyPr wrap="square" lIns="0" tIns="0" rIns="0" bIns="0" rtlCol="0" anchor="ctr"/>
          <a:lstStyle/>
          <a:p>
            <a:pPr indent="0" marL="0">
              <a:buNone/>
            </a:pPr>
            <a:r>
              <a:rPr lang="en-US" sz="1450" b="1" dirty="0">
                <a:solidFill>
                  <a:srgbClr val="232F3E"/>
                </a:solidFill>
                <a:latin typeface="Calibri" pitchFamily="34" charset="0"/>
                <a:ea typeface="Calibri" pitchFamily="34" charset="-122"/>
                <a:cs typeface="Calibri" pitchFamily="34" charset="-120"/>
              </a:rPr>
              <a:t>Create User Groups</a:t>
            </a:r>
            <a:endParaRPr lang="en-US" sz="1450" dirty="0"/>
          </a:p>
        </p:txBody>
      </p:sp>
      <p:sp>
        <p:nvSpPr>
          <p:cNvPr id="15" name="Text 13"/>
          <p:cNvSpPr txBox="1"/>
          <p:nvPr/>
        </p:nvSpPr>
        <p:spPr>
          <a:xfrm>
            <a:off x="4553712" y="2971800"/>
            <a:ext cx="3108960" cy="777240"/>
          </a:xfrm>
          <a:prstGeom prst="rect">
            <a:avLst/>
          </a:prstGeom>
          <a:noFill/>
          <a:ln/>
        </p:spPr>
        <p:txBody>
          <a:bodyPr wrap="square" lIns="0" tIns="0" rIns="0" bIns="0" rtlCol="0" anchor="ctr"/>
          <a:lstStyle/>
          <a:p>
            <a:pPr indent="0" marL="0">
              <a:lnSpc>
                <a:spcPts val="1500"/>
              </a:lnSpc>
              <a:buNone/>
            </a:pPr>
            <a:r>
              <a:rPr lang="en-US" sz="1150" dirty="0">
                <a:solidFill>
                  <a:srgbClr val="6B7480"/>
                </a:solidFill>
                <a:latin typeface="Calibri" pitchFamily="34" charset="0"/>
                <a:ea typeface="Calibri" pitchFamily="34" charset="-122"/>
                <a:cs typeface="Calibri" pitchFamily="34" charset="-120"/>
              </a:rPr>
              <a:t>Set up “Developers” and “Admins” groups.</a:t>
            </a:r>
            <a:endParaRPr lang="en-US" sz="1150" dirty="0"/>
          </a:p>
        </p:txBody>
      </p:sp>
      <p:sp>
        <p:nvSpPr>
          <p:cNvPr id="16" name="Shape 14"/>
          <p:cNvSpPr/>
          <p:nvPr/>
        </p:nvSpPr>
        <p:spPr>
          <a:xfrm>
            <a:off x="8046720" y="2148840"/>
            <a:ext cx="3611880" cy="1691640"/>
          </a:xfrm>
          <a:prstGeom prst="roundRect">
            <a:avLst>
              <a:gd name="adj" fmla="val 4324"/>
            </a:avLst>
          </a:prstGeom>
          <a:solidFill>
            <a:srgbClr val="F5F6F8"/>
          </a:solidFill>
          <a:ln w="12700">
            <a:solidFill>
              <a:srgbClr val="DDE1E6"/>
            </a:solidFill>
            <a:prstDash val="solid"/>
          </a:ln>
        </p:spPr>
      </p:sp>
      <p:sp>
        <p:nvSpPr>
          <p:cNvPr id="17" name="Shape 15"/>
          <p:cNvSpPr/>
          <p:nvPr/>
        </p:nvSpPr>
        <p:spPr>
          <a:xfrm>
            <a:off x="8247888" y="2350008"/>
            <a:ext cx="457200" cy="457200"/>
          </a:xfrm>
          <a:prstGeom prst="ellipse">
            <a:avLst/>
          </a:prstGeom>
          <a:solidFill>
            <a:srgbClr val="FF9900"/>
          </a:solidFill>
          <a:ln/>
        </p:spPr>
      </p:sp>
      <p:sp>
        <p:nvSpPr>
          <p:cNvPr id="18" name="Text 16"/>
          <p:cNvSpPr txBox="1"/>
          <p:nvPr/>
        </p:nvSpPr>
        <p:spPr>
          <a:xfrm>
            <a:off x="8247888" y="2350008"/>
            <a:ext cx="457200" cy="457200"/>
          </a:xfrm>
          <a:prstGeom prst="rect">
            <a:avLst/>
          </a:prstGeom>
          <a:noFill/>
          <a:ln/>
        </p:spPr>
        <p:txBody>
          <a:bodyPr wrap="square" lIns="0" tIns="0" rIns="0" bIns="0" rtlCol="0" anchor="ctr"/>
          <a:lstStyle/>
          <a:p>
            <a:pPr algn="ctr" indent="0" marL="0">
              <a:buNone/>
            </a:pPr>
            <a:r>
              <a:rPr lang="en-US" sz="2000" b="1" dirty="0">
                <a:solidFill>
                  <a:srgbClr val="16191F"/>
                </a:solidFill>
                <a:latin typeface="Calibri" pitchFamily="34" charset="0"/>
                <a:ea typeface="Calibri" pitchFamily="34" charset="-122"/>
                <a:cs typeface="Calibri" pitchFamily="34" charset="-120"/>
              </a:rPr>
              <a:t>3</a:t>
            </a:r>
            <a:endParaRPr lang="en-US" sz="2000" dirty="0"/>
          </a:p>
        </p:txBody>
      </p:sp>
      <p:sp>
        <p:nvSpPr>
          <p:cNvPr id="19" name="Text 17"/>
          <p:cNvSpPr txBox="1"/>
          <p:nvPr/>
        </p:nvSpPr>
        <p:spPr>
          <a:xfrm>
            <a:off x="8869680" y="2331720"/>
            <a:ext cx="2606040" cy="502920"/>
          </a:xfrm>
          <a:prstGeom prst="rect">
            <a:avLst/>
          </a:prstGeom>
          <a:noFill/>
          <a:ln/>
        </p:spPr>
        <p:txBody>
          <a:bodyPr wrap="square" lIns="0" tIns="0" rIns="0" bIns="0" rtlCol="0" anchor="ctr"/>
          <a:lstStyle/>
          <a:p>
            <a:pPr indent="0" marL="0">
              <a:buNone/>
            </a:pPr>
            <a:r>
              <a:rPr lang="en-US" sz="1450" b="1" dirty="0">
                <a:solidFill>
                  <a:srgbClr val="232F3E"/>
                </a:solidFill>
                <a:latin typeface="Calibri" pitchFamily="34" charset="0"/>
                <a:ea typeface="Calibri" pitchFamily="34" charset="-122"/>
                <a:cs typeface="Calibri" pitchFamily="34" charset="-120"/>
              </a:rPr>
              <a:t>Attach Permission Policies</a:t>
            </a:r>
            <a:endParaRPr lang="en-US" sz="1450" dirty="0"/>
          </a:p>
        </p:txBody>
      </p:sp>
      <p:sp>
        <p:nvSpPr>
          <p:cNvPr id="20" name="Text 18"/>
          <p:cNvSpPr txBox="1"/>
          <p:nvPr/>
        </p:nvSpPr>
        <p:spPr>
          <a:xfrm>
            <a:off x="8302752" y="2971800"/>
            <a:ext cx="3108960" cy="777240"/>
          </a:xfrm>
          <a:prstGeom prst="rect">
            <a:avLst/>
          </a:prstGeom>
          <a:noFill/>
          <a:ln/>
        </p:spPr>
        <p:txBody>
          <a:bodyPr wrap="square" lIns="0" tIns="0" rIns="0" bIns="0" rtlCol="0" anchor="ctr"/>
          <a:lstStyle/>
          <a:p>
            <a:pPr indent="0" marL="0">
              <a:lnSpc>
                <a:spcPts val="1500"/>
              </a:lnSpc>
              <a:buNone/>
            </a:pPr>
            <a:r>
              <a:rPr lang="en-US" sz="1150" dirty="0">
                <a:solidFill>
                  <a:srgbClr val="6B7480"/>
                </a:solidFill>
                <a:latin typeface="Calibri" pitchFamily="34" charset="0"/>
                <a:ea typeface="Calibri" pitchFamily="34" charset="-122"/>
                <a:cs typeface="Calibri" pitchFamily="34" charset="-120"/>
              </a:rPr>
              <a:t>Assign AWS-managed policies to each group.</a:t>
            </a:r>
            <a:endParaRPr lang="en-US" sz="1150" dirty="0"/>
          </a:p>
        </p:txBody>
      </p:sp>
      <p:sp>
        <p:nvSpPr>
          <p:cNvPr id="21" name="Shape 19"/>
          <p:cNvSpPr/>
          <p:nvPr/>
        </p:nvSpPr>
        <p:spPr>
          <a:xfrm>
            <a:off x="548640" y="4023360"/>
            <a:ext cx="3611880" cy="1691640"/>
          </a:xfrm>
          <a:prstGeom prst="roundRect">
            <a:avLst>
              <a:gd name="adj" fmla="val 4324"/>
            </a:avLst>
          </a:prstGeom>
          <a:solidFill>
            <a:srgbClr val="F5F6F8"/>
          </a:solidFill>
          <a:ln w="12700">
            <a:solidFill>
              <a:srgbClr val="DDE1E6"/>
            </a:solidFill>
            <a:prstDash val="solid"/>
          </a:ln>
        </p:spPr>
      </p:sp>
      <p:sp>
        <p:nvSpPr>
          <p:cNvPr id="22" name="Shape 20"/>
          <p:cNvSpPr/>
          <p:nvPr/>
        </p:nvSpPr>
        <p:spPr>
          <a:xfrm>
            <a:off x="749808" y="4224528"/>
            <a:ext cx="457200" cy="457200"/>
          </a:xfrm>
          <a:prstGeom prst="ellipse">
            <a:avLst/>
          </a:prstGeom>
          <a:solidFill>
            <a:srgbClr val="FF9900"/>
          </a:solidFill>
          <a:ln/>
        </p:spPr>
      </p:sp>
      <p:sp>
        <p:nvSpPr>
          <p:cNvPr id="23" name="Text 21"/>
          <p:cNvSpPr txBox="1"/>
          <p:nvPr/>
        </p:nvSpPr>
        <p:spPr>
          <a:xfrm>
            <a:off x="749808" y="4224528"/>
            <a:ext cx="457200" cy="457200"/>
          </a:xfrm>
          <a:prstGeom prst="rect">
            <a:avLst/>
          </a:prstGeom>
          <a:noFill/>
          <a:ln/>
        </p:spPr>
        <p:txBody>
          <a:bodyPr wrap="square" lIns="0" tIns="0" rIns="0" bIns="0" rtlCol="0" anchor="ctr"/>
          <a:lstStyle/>
          <a:p>
            <a:pPr algn="ctr" indent="0" marL="0">
              <a:buNone/>
            </a:pPr>
            <a:r>
              <a:rPr lang="en-US" sz="2000" b="1" dirty="0">
                <a:solidFill>
                  <a:srgbClr val="16191F"/>
                </a:solidFill>
                <a:latin typeface="Calibri" pitchFamily="34" charset="0"/>
                <a:ea typeface="Calibri" pitchFamily="34" charset="-122"/>
                <a:cs typeface="Calibri" pitchFamily="34" charset="-120"/>
              </a:rPr>
              <a:t>4</a:t>
            </a:r>
            <a:endParaRPr lang="en-US" sz="2000" dirty="0"/>
          </a:p>
        </p:txBody>
      </p:sp>
      <p:sp>
        <p:nvSpPr>
          <p:cNvPr id="24" name="Text 22"/>
          <p:cNvSpPr txBox="1"/>
          <p:nvPr/>
        </p:nvSpPr>
        <p:spPr>
          <a:xfrm>
            <a:off x="1371600" y="4206240"/>
            <a:ext cx="2606040" cy="502920"/>
          </a:xfrm>
          <a:prstGeom prst="rect">
            <a:avLst/>
          </a:prstGeom>
          <a:noFill/>
          <a:ln/>
        </p:spPr>
        <p:txBody>
          <a:bodyPr wrap="square" lIns="0" tIns="0" rIns="0" bIns="0" rtlCol="0" anchor="ctr"/>
          <a:lstStyle/>
          <a:p>
            <a:pPr indent="0" marL="0">
              <a:buNone/>
            </a:pPr>
            <a:r>
              <a:rPr lang="en-US" sz="1450" b="1" dirty="0">
                <a:solidFill>
                  <a:srgbClr val="232F3E"/>
                </a:solidFill>
                <a:latin typeface="Calibri" pitchFamily="34" charset="0"/>
                <a:ea typeface="Calibri" pitchFamily="34" charset="-122"/>
                <a:cs typeface="Calibri" pitchFamily="34" charset="-120"/>
              </a:rPr>
              <a:t>Create IAM Users</a:t>
            </a:r>
            <a:endParaRPr lang="en-US" sz="1450" dirty="0"/>
          </a:p>
        </p:txBody>
      </p:sp>
      <p:sp>
        <p:nvSpPr>
          <p:cNvPr id="25" name="Text 23"/>
          <p:cNvSpPr txBox="1"/>
          <p:nvPr/>
        </p:nvSpPr>
        <p:spPr>
          <a:xfrm>
            <a:off x="804672" y="4846320"/>
            <a:ext cx="3108960" cy="777240"/>
          </a:xfrm>
          <a:prstGeom prst="rect">
            <a:avLst/>
          </a:prstGeom>
          <a:noFill/>
          <a:ln/>
        </p:spPr>
        <p:txBody>
          <a:bodyPr wrap="square" lIns="0" tIns="0" rIns="0" bIns="0" rtlCol="0" anchor="ctr"/>
          <a:lstStyle/>
          <a:p>
            <a:pPr indent="0" marL="0">
              <a:lnSpc>
                <a:spcPts val="1500"/>
              </a:lnSpc>
              <a:buNone/>
            </a:pPr>
            <a:r>
              <a:rPr lang="en-US" sz="1150" dirty="0">
                <a:solidFill>
                  <a:srgbClr val="6B7480"/>
                </a:solidFill>
                <a:latin typeface="Calibri" pitchFamily="34" charset="0"/>
                <a:ea typeface="Calibri" pitchFamily="34" charset="-122"/>
                <a:cs typeface="Calibri" pitchFamily="34" charset="-120"/>
              </a:rPr>
              <a:t>Add individual user identities to the account.</a:t>
            </a:r>
            <a:endParaRPr lang="en-US" sz="1150" dirty="0"/>
          </a:p>
        </p:txBody>
      </p:sp>
      <p:sp>
        <p:nvSpPr>
          <p:cNvPr id="26" name="Shape 24"/>
          <p:cNvSpPr/>
          <p:nvPr/>
        </p:nvSpPr>
        <p:spPr>
          <a:xfrm>
            <a:off x="4297680" y="4023360"/>
            <a:ext cx="3611880" cy="1691640"/>
          </a:xfrm>
          <a:prstGeom prst="roundRect">
            <a:avLst>
              <a:gd name="adj" fmla="val 4324"/>
            </a:avLst>
          </a:prstGeom>
          <a:solidFill>
            <a:srgbClr val="F5F6F8"/>
          </a:solidFill>
          <a:ln w="12700">
            <a:solidFill>
              <a:srgbClr val="DDE1E6"/>
            </a:solidFill>
            <a:prstDash val="solid"/>
          </a:ln>
        </p:spPr>
      </p:sp>
      <p:sp>
        <p:nvSpPr>
          <p:cNvPr id="27" name="Shape 25"/>
          <p:cNvSpPr/>
          <p:nvPr/>
        </p:nvSpPr>
        <p:spPr>
          <a:xfrm>
            <a:off x="4498848" y="4224528"/>
            <a:ext cx="457200" cy="457200"/>
          </a:xfrm>
          <a:prstGeom prst="ellipse">
            <a:avLst/>
          </a:prstGeom>
          <a:solidFill>
            <a:srgbClr val="FF9900"/>
          </a:solidFill>
          <a:ln/>
        </p:spPr>
      </p:sp>
      <p:sp>
        <p:nvSpPr>
          <p:cNvPr id="28" name="Text 26"/>
          <p:cNvSpPr txBox="1"/>
          <p:nvPr/>
        </p:nvSpPr>
        <p:spPr>
          <a:xfrm>
            <a:off x="4498848" y="4224528"/>
            <a:ext cx="457200" cy="457200"/>
          </a:xfrm>
          <a:prstGeom prst="rect">
            <a:avLst/>
          </a:prstGeom>
          <a:noFill/>
          <a:ln/>
        </p:spPr>
        <p:txBody>
          <a:bodyPr wrap="square" lIns="0" tIns="0" rIns="0" bIns="0" rtlCol="0" anchor="ctr"/>
          <a:lstStyle/>
          <a:p>
            <a:pPr algn="ctr" indent="0" marL="0">
              <a:buNone/>
            </a:pPr>
            <a:r>
              <a:rPr lang="en-US" sz="2000" b="1" dirty="0">
                <a:solidFill>
                  <a:srgbClr val="16191F"/>
                </a:solidFill>
                <a:latin typeface="Calibri" pitchFamily="34" charset="0"/>
                <a:ea typeface="Calibri" pitchFamily="34" charset="-122"/>
                <a:cs typeface="Calibri" pitchFamily="34" charset="-120"/>
              </a:rPr>
              <a:t>5</a:t>
            </a:r>
            <a:endParaRPr lang="en-US" sz="2000" dirty="0"/>
          </a:p>
        </p:txBody>
      </p:sp>
      <p:sp>
        <p:nvSpPr>
          <p:cNvPr id="29" name="Text 27"/>
          <p:cNvSpPr txBox="1"/>
          <p:nvPr/>
        </p:nvSpPr>
        <p:spPr>
          <a:xfrm>
            <a:off x="5120640" y="4206240"/>
            <a:ext cx="2606040" cy="502920"/>
          </a:xfrm>
          <a:prstGeom prst="rect">
            <a:avLst/>
          </a:prstGeom>
          <a:noFill/>
          <a:ln/>
        </p:spPr>
        <p:txBody>
          <a:bodyPr wrap="square" lIns="0" tIns="0" rIns="0" bIns="0" rtlCol="0" anchor="ctr"/>
          <a:lstStyle/>
          <a:p>
            <a:pPr indent="0" marL="0">
              <a:buNone/>
            </a:pPr>
            <a:r>
              <a:rPr lang="en-US" sz="1450" b="1" dirty="0">
                <a:solidFill>
                  <a:srgbClr val="232F3E"/>
                </a:solidFill>
                <a:latin typeface="Calibri" pitchFamily="34" charset="0"/>
                <a:ea typeface="Calibri" pitchFamily="34" charset="-122"/>
                <a:cs typeface="Calibri" pitchFamily="34" charset="-120"/>
              </a:rPr>
              <a:t>Assign Users to Groups</a:t>
            </a:r>
            <a:endParaRPr lang="en-US" sz="1450" dirty="0"/>
          </a:p>
        </p:txBody>
      </p:sp>
      <p:sp>
        <p:nvSpPr>
          <p:cNvPr id="30" name="Text 28"/>
          <p:cNvSpPr txBox="1"/>
          <p:nvPr/>
        </p:nvSpPr>
        <p:spPr>
          <a:xfrm>
            <a:off x="4553712" y="4846320"/>
            <a:ext cx="3108960" cy="777240"/>
          </a:xfrm>
          <a:prstGeom prst="rect">
            <a:avLst/>
          </a:prstGeom>
          <a:noFill/>
          <a:ln/>
        </p:spPr>
        <p:txBody>
          <a:bodyPr wrap="square" lIns="0" tIns="0" rIns="0" bIns="0" rtlCol="0" anchor="ctr"/>
          <a:lstStyle/>
          <a:p>
            <a:pPr indent="0" marL="0">
              <a:lnSpc>
                <a:spcPts val="1500"/>
              </a:lnSpc>
              <a:buNone/>
            </a:pPr>
            <a:r>
              <a:rPr lang="en-US" sz="1150" dirty="0">
                <a:solidFill>
                  <a:srgbClr val="6B7480"/>
                </a:solidFill>
                <a:latin typeface="Calibri" pitchFamily="34" charset="0"/>
                <a:ea typeface="Calibri" pitchFamily="34" charset="-122"/>
                <a:cs typeface="Calibri" pitchFamily="34" charset="-120"/>
              </a:rPr>
              <a:t>Map each user to the correct permission group.</a:t>
            </a:r>
            <a:endParaRPr lang="en-US" sz="1150" dirty="0"/>
          </a:p>
        </p:txBody>
      </p:sp>
      <p:sp>
        <p:nvSpPr>
          <p:cNvPr id="31" name="Shape 29"/>
          <p:cNvSpPr/>
          <p:nvPr/>
        </p:nvSpPr>
        <p:spPr>
          <a:xfrm>
            <a:off x="8046720" y="4023360"/>
            <a:ext cx="3611880" cy="1691640"/>
          </a:xfrm>
          <a:prstGeom prst="roundRect">
            <a:avLst>
              <a:gd name="adj" fmla="val 4324"/>
            </a:avLst>
          </a:prstGeom>
          <a:solidFill>
            <a:srgbClr val="F5F6F8"/>
          </a:solidFill>
          <a:ln w="12700">
            <a:solidFill>
              <a:srgbClr val="DDE1E6"/>
            </a:solidFill>
            <a:prstDash val="solid"/>
          </a:ln>
        </p:spPr>
      </p:sp>
      <p:sp>
        <p:nvSpPr>
          <p:cNvPr id="32" name="Shape 30"/>
          <p:cNvSpPr/>
          <p:nvPr/>
        </p:nvSpPr>
        <p:spPr>
          <a:xfrm>
            <a:off x="8247888" y="4224528"/>
            <a:ext cx="457200" cy="457200"/>
          </a:xfrm>
          <a:prstGeom prst="ellipse">
            <a:avLst/>
          </a:prstGeom>
          <a:solidFill>
            <a:srgbClr val="FF9900"/>
          </a:solidFill>
          <a:ln/>
        </p:spPr>
      </p:sp>
      <p:sp>
        <p:nvSpPr>
          <p:cNvPr id="33" name="Text 31"/>
          <p:cNvSpPr txBox="1"/>
          <p:nvPr/>
        </p:nvSpPr>
        <p:spPr>
          <a:xfrm>
            <a:off x="8247888" y="4224528"/>
            <a:ext cx="457200" cy="457200"/>
          </a:xfrm>
          <a:prstGeom prst="rect">
            <a:avLst/>
          </a:prstGeom>
          <a:noFill/>
          <a:ln/>
        </p:spPr>
        <p:txBody>
          <a:bodyPr wrap="square" lIns="0" tIns="0" rIns="0" bIns="0" rtlCol="0" anchor="ctr"/>
          <a:lstStyle/>
          <a:p>
            <a:pPr algn="ctr" indent="0" marL="0">
              <a:buNone/>
            </a:pPr>
            <a:r>
              <a:rPr lang="en-US" sz="2000" b="1" dirty="0">
                <a:solidFill>
                  <a:srgbClr val="16191F"/>
                </a:solidFill>
                <a:latin typeface="Calibri" pitchFamily="34" charset="0"/>
                <a:ea typeface="Calibri" pitchFamily="34" charset="-122"/>
                <a:cs typeface="Calibri" pitchFamily="34" charset="-120"/>
              </a:rPr>
              <a:t>6</a:t>
            </a:r>
            <a:endParaRPr lang="en-US" sz="2000" dirty="0"/>
          </a:p>
        </p:txBody>
      </p:sp>
      <p:sp>
        <p:nvSpPr>
          <p:cNvPr id="34" name="Text 32"/>
          <p:cNvSpPr txBox="1"/>
          <p:nvPr/>
        </p:nvSpPr>
        <p:spPr>
          <a:xfrm>
            <a:off x="8869680" y="4206240"/>
            <a:ext cx="2606040" cy="502920"/>
          </a:xfrm>
          <a:prstGeom prst="rect">
            <a:avLst/>
          </a:prstGeom>
          <a:noFill/>
          <a:ln/>
        </p:spPr>
        <p:txBody>
          <a:bodyPr wrap="square" lIns="0" tIns="0" rIns="0" bIns="0" rtlCol="0" anchor="ctr"/>
          <a:lstStyle/>
          <a:p>
            <a:pPr indent="0" marL="0">
              <a:buNone/>
            </a:pPr>
            <a:r>
              <a:rPr lang="en-US" sz="1450" b="1" dirty="0">
                <a:solidFill>
                  <a:srgbClr val="232F3E"/>
                </a:solidFill>
                <a:latin typeface="Calibri" pitchFamily="34" charset="0"/>
                <a:ea typeface="Calibri" pitchFamily="34" charset="-122"/>
                <a:cs typeface="Calibri" pitchFamily="34" charset="-120"/>
              </a:rPr>
              <a:t>Review Best Practices</a:t>
            </a:r>
            <a:endParaRPr lang="en-US" sz="1450" dirty="0"/>
          </a:p>
        </p:txBody>
      </p:sp>
      <p:sp>
        <p:nvSpPr>
          <p:cNvPr id="35" name="Text 33"/>
          <p:cNvSpPr txBox="1"/>
          <p:nvPr/>
        </p:nvSpPr>
        <p:spPr>
          <a:xfrm>
            <a:off x="8302752" y="4846320"/>
            <a:ext cx="3108960" cy="777240"/>
          </a:xfrm>
          <a:prstGeom prst="rect">
            <a:avLst/>
          </a:prstGeom>
          <a:noFill/>
          <a:ln/>
        </p:spPr>
        <p:txBody>
          <a:bodyPr wrap="square" lIns="0" tIns="0" rIns="0" bIns="0" rtlCol="0" anchor="ctr"/>
          <a:lstStyle/>
          <a:p>
            <a:pPr indent="0" marL="0">
              <a:lnSpc>
                <a:spcPts val="1500"/>
              </a:lnSpc>
              <a:buNone/>
            </a:pPr>
            <a:r>
              <a:rPr lang="en-US" sz="1150" dirty="0">
                <a:solidFill>
                  <a:srgbClr val="6B7480"/>
                </a:solidFill>
                <a:latin typeface="Calibri" pitchFamily="34" charset="0"/>
                <a:ea typeface="Calibri" pitchFamily="34" charset="-122"/>
                <a:cs typeface="Calibri" pitchFamily="34" charset="-120"/>
              </a:rPr>
              <a:t>Keep access secure, least-privilege, and auditable.</a:t>
            </a:r>
            <a:endParaRPr lang="en-US" sz="1150" dirty="0"/>
          </a:p>
        </p:txBody>
      </p:sp>
      <p:sp>
        <p:nvSpPr>
          <p:cNvPr id="36" name="Text 34"/>
          <p:cNvSpPr txBox="1"/>
          <p:nvPr/>
        </p:nvSpPr>
        <p:spPr>
          <a:xfrm>
            <a:off x="548640" y="6537960"/>
            <a:ext cx="548640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AWS IAM  •  Groups &amp; Permissions</a:t>
            </a:r>
            <a:endParaRPr lang="en-US" sz="1000" dirty="0"/>
          </a:p>
        </p:txBody>
      </p:sp>
      <p:sp>
        <p:nvSpPr>
          <p:cNvPr id="37" name="Text 35"/>
          <p:cNvSpPr txBox="1"/>
          <p:nvPr/>
        </p:nvSpPr>
        <p:spPr>
          <a:xfrm>
            <a:off x="11155680" y="6537960"/>
            <a:ext cx="457200" cy="256032"/>
          </a:xfrm>
          <a:prstGeom prst="rect">
            <a:avLst/>
          </a:prstGeom>
          <a:noFill/>
          <a:ln/>
        </p:spPr>
        <p:txBody>
          <a:bodyPr wrap="square" lIns="0" tIns="0" rIns="0" bIns="0" rtlCol="0" anchor="ctr"/>
          <a:lstStyle/>
          <a:p>
            <a:pPr algn="r" indent="0" marL="0">
              <a:buNone/>
            </a:pPr>
            <a:r>
              <a:rPr lang="en-US" sz="1000" dirty="0">
                <a:solidFill>
                  <a:srgbClr val="6B74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300" b="1" spc="200" kern="0" dirty="0">
                <a:solidFill>
                  <a:srgbClr val="FF9900"/>
                </a:solidFill>
                <a:latin typeface="Calibri" pitchFamily="34" charset="0"/>
                <a:ea typeface="Calibri" pitchFamily="34" charset="-122"/>
                <a:cs typeface="Calibri" pitchFamily="34" charset="-120"/>
              </a:rPr>
              <a:t>STEP 1</a:t>
            </a:r>
            <a:endParaRPr lang="en-US" sz="1300" dirty="0"/>
          </a:p>
        </p:txBody>
      </p:sp>
      <p:sp>
        <p:nvSpPr>
          <p:cNvPr id="3" name="Text 1"/>
          <p:cNvSpPr txBox="1"/>
          <p:nvPr/>
        </p:nvSpPr>
        <p:spPr>
          <a:xfrm>
            <a:off x="548640" y="566928"/>
            <a:ext cx="10789920" cy="566928"/>
          </a:xfrm>
          <a:prstGeom prst="rect">
            <a:avLst/>
          </a:prstGeom>
          <a:noFill/>
          <a:ln/>
        </p:spPr>
        <p:txBody>
          <a:bodyPr wrap="square" lIns="0" tIns="0" rIns="0" bIns="0" rtlCol="0" anchor="ctr"/>
          <a:lstStyle/>
          <a:p>
            <a:pPr indent="0" marL="0">
              <a:buNone/>
            </a:pPr>
            <a:r>
              <a:rPr lang="en-US" sz="3000" b="1" dirty="0">
                <a:solidFill>
                  <a:srgbClr val="232F3E"/>
                </a:solidFill>
                <a:latin typeface="Cambria" pitchFamily="34" charset="0"/>
                <a:ea typeface="Cambria" pitchFamily="34" charset="-122"/>
                <a:cs typeface="Cambria" pitchFamily="34" charset="-120"/>
              </a:rPr>
              <a:t>Access the IAM Console</a:t>
            </a:r>
            <a:endParaRPr lang="en-US" sz="3000" dirty="0"/>
          </a:p>
        </p:txBody>
      </p:sp>
      <p:sp>
        <p:nvSpPr>
          <p:cNvPr id="4" name="Shape 2"/>
          <p:cNvSpPr/>
          <p:nvPr/>
        </p:nvSpPr>
        <p:spPr>
          <a:xfrm>
            <a:off x="548640" y="1170432"/>
            <a:ext cx="11091672" cy="0"/>
          </a:xfrm>
          <a:prstGeom prst="line">
            <a:avLst/>
          </a:prstGeom>
          <a:noFill/>
          <a:ln w="12700">
            <a:solidFill>
              <a:srgbClr val="DDE1E6"/>
            </a:solidFill>
            <a:prstDash val="solid"/>
          </a:ln>
        </p:spPr>
      </p:sp>
      <p:sp>
        <p:nvSpPr>
          <p:cNvPr id="5" name="Text 3"/>
          <p:cNvSpPr txBox="1"/>
          <p:nvPr/>
        </p:nvSpPr>
        <p:spPr>
          <a:xfrm>
            <a:off x="548640" y="1371600"/>
            <a:ext cx="10881360" cy="685800"/>
          </a:xfrm>
          <a:prstGeom prst="rect">
            <a:avLst/>
          </a:prstGeom>
          <a:noFill/>
          <a:ln/>
        </p:spPr>
        <p:txBody>
          <a:bodyPr wrap="square" lIns="0" tIns="0" rIns="0" bIns="0" rtlCol="0" anchor="ctr"/>
          <a:lstStyle/>
          <a:p>
            <a:pPr indent="0" marL="0">
              <a:lnSpc>
                <a:spcPts val="2000"/>
              </a:lnSpc>
              <a:buNone/>
            </a:pPr>
            <a:r>
              <a:rPr lang="en-US" sz="1400" dirty="0">
                <a:solidFill>
                  <a:srgbClr val="6B7480"/>
                </a:solidFill>
                <a:latin typeface="Calibri" pitchFamily="34" charset="0"/>
                <a:ea typeface="Calibri" pitchFamily="34" charset="-122"/>
                <a:cs typeface="Calibri" pitchFamily="34" charset="-120"/>
              </a:rPr>
              <a:t>Sign in to the AWS Management Console and search for “IAM” in the top navigation bar. Selecting the IAM service opens the IAM Dashboard, which summarizes account security status and resource counts.</a:t>
            </a:r>
            <a:endParaRPr lang="en-US" sz="1400" dirty="0"/>
          </a:p>
        </p:txBody>
      </p:sp>
      <p:sp>
        <p:nvSpPr>
          <p:cNvPr id="6" name="Shape 4"/>
          <p:cNvSpPr/>
          <p:nvPr/>
        </p:nvSpPr>
        <p:spPr>
          <a:xfrm>
            <a:off x="466344" y="2609469"/>
            <a:ext cx="5376672" cy="3422142"/>
          </a:xfrm>
          <a:prstGeom prst="roundRect">
            <a:avLst>
              <a:gd name="adj" fmla="val 1603"/>
            </a:avLst>
          </a:prstGeom>
          <a:solidFill>
            <a:srgbClr val="FFFFFF"/>
          </a:solidFill>
          <a:ln w="12700">
            <a:solidFill>
              <a:srgbClr val="DDE1E6"/>
            </a:solidFill>
            <a:prstDash val="solid"/>
          </a:ln>
          <a:effectLst>
            <a:outerShdw sx="100000" sy="100000" kx="0" ky="0" algn="bl" rotWithShape="0" blurRad="127000" dist="38100" dir="5400000">
              <a:srgbClr val="1A1A1A">
                <a:alpha val="28000"/>
              </a:srgbClr>
            </a:outerShdw>
          </a:effectLst>
        </p:spPr>
      </p:sp>
      <p:pic>
        <p:nvPicPr>
          <p:cNvPr id="7" name="Image 0" descr="/home/claude/iam_ppt/images/IMG-20260831-WA0039.jpg">    </p:cNvPr>
          <p:cNvPicPr>
            <a:picLocks noChangeAspect="1"/>
          </p:cNvPicPr>
          <p:nvPr/>
        </p:nvPicPr>
        <p:blipFill>
          <a:blip r:embed="rId1"/>
          <a:stretch>
            <a:fillRect/>
          </a:stretch>
        </p:blipFill>
        <p:spPr>
          <a:xfrm>
            <a:off x="548640" y="2691765"/>
            <a:ext cx="5212080" cy="3257550"/>
          </a:xfrm>
          <a:prstGeom prst="rect">
            <a:avLst/>
          </a:prstGeom>
        </p:spPr>
      </p:pic>
      <p:sp>
        <p:nvSpPr>
          <p:cNvPr id="8" name="Shape 5"/>
          <p:cNvSpPr/>
          <p:nvPr/>
        </p:nvSpPr>
        <p:spPr>
          <a:xfrm>
            <a:off x="466344" y="2591181"/>
            <a:ext cx="777240" cy="292608"/>
          </a:xfrm>
          <a:prstGeom prst="roundRect">
            <a:avLst>
              <a:gd name="adj" fmla="val 18750"/>
            </a:avLst>
          </a:prstGeom>
          <a:solidFill>
            <a:srgbClr val="FF9900"/>
          </a:solidFill>
          <a:ln/>
        </p:spPr>
      </p:sp>
      <p:sp>
        <p:nvSpPr>
          <p:cNvPr id="9" name="Text 6"/>
          <p:cNvSpPr txBox="1"/>
          <p:nvPr/>
        </p:nvSpPr>
        <p:spPr>
          <a:xfrm>
            <a:off x="466344" y="2591181"/>
            <a:ext cx="777240" cy="292608"/>
          </a:xfrm>
          <a:prstGeom prst="rect">
            <a:avLst/>
          </a:prstGeom>
          <a:noFill/>
          <a:ln/>
        </p:spPr>
        <p:txBody>
          <a:bodyPr wrap="square" lIns="0" tIns="0" rIns="0" bIns="0" rtlCol="0" anchor="ctr"/>
          <a:lstStyle/>
          <a:p>
            <a:pPr algn="ctr" indent="0" marL="0">
              <a:buNone/>
            </a:pPr>
            <a:r>
              <a:rPr lang="en-US" sz="1200" b="1" dirty="0">
                <a:solidFill>
                  <a:srgbClr val="16191F"/>
                </a:solidFill>
                <a:latin typeface="Calibri" pitchFamily="34" charset="0"/>
                <a:ea typeface="Calibri" pitchFamily="34" charset="-122"/>
                <a:cs typeface="Calibri" pitchFamily="34" charset="-120"/>
              </a:rPr>
              <a:t>Search</a:t>
            </a:r>
            <a:endParaRPr lang="en-US" sz="1200" dirty="0"/>
          </a:p>
        </p:txBody>
      </p:sp>
      <p:sp>
        <p:nvSpPr>
          <p:cNvPr id="10" name="Shape 7"/>
          <p:cNvSpPr/>
          <p:nvPr/>
        </p:nvSpPr>
        <p:spPr>
          <a:xfrm>
            <a:off x="5998464" y="2665954"/>
            <a:ext cx="5742432" cy="3309172"/>
          </a:xfrm>
          <a:prstGeom prst="roundRect">
            <a:avLst>
              <a:gd name="adj" fmla="val 1658"/>
            </a:avLst>
          </a:prstGeom>
          <a:solidFill>
            <a:srgbClr val="FFFFFF"/>
          </a:solidFill>
          <a:ln w="12700">
            <a:solidFill>
              <a:srgbClr val="DDE1E6"/>
            </a:solidFill>
            <a:prstDash val="solid"/>
          </a:ln>
          <a:effectLst>
            <a:outerShdw sx="100000" sy="100000" kx="0" ky="0" algn="bl" rotWithShape="0" blurRad="127000" dist="38100" dir="5400000">
              <a:srgbClr val="1A1A1A">
                <a:alpha val="28000"/>
              </a:srgbClr>
            </a:outerShdw>
          </a:effectLst>
        </p:spPr>
      </p:sp>
      <p:pic>
        <p:nvPicPr>
          <p:cNvPr id="11" name="Image 1" descr="/home/claude/iam_ppt/images/IMG-20260831-WA0052.jpg">    </p:cNvPr>
          <p:cNvPicPr>
            <a:picLocks noChangeAspect="1"/>
          </p:cNvPicPr>
          <p:nvPr/>
        </p:nvPicPr>
        <p:blipFill>
          <a:blip r:embed="rId2"/>
          <a:stretch>
            <a:fillRect/>
          </a:stretch>
        </p:blipFill>
        <p:spPr>
          <a:xfrm>
            <a:off x="6080760" y="2748250"/>
            <a:ext cx="5577840" cy="3144580"/>
          </a:xfrm>
          <a:prstGeom prst="rect">
            <a:avLst/>
          </a:prstGeom>
        </p:spPr>
      </p:pic>
      <p:sp>
        <p:nvSpPr>
          <p:cNvPr id="12" name="Shape 8"/>
          <p:cNvSpPr/>
          <p:nvPr/>
        </p:nvSpPr>
        <p:spPr>
          <a:xfrm>
            <a:off x="5998464" y="2647666"/>
            <a:ext cx="777240" cy="292608"/>
          </a:xfrm>
          <a:prstGeom prst="roundRect">
            <a:avLst>
              <a:gd name="adj" fmla="val 18750"/>
            </a:avLst>
          </a:prstGeom>
          <a:solidFill>
            <a:srgbClr val="FF9900"/>
          </a:solidFill>
          <a:ln/>
        </p:spPr>
      </p:sp>
      <p:sp>
        <p:nvSpPr>
          <p:cNvPr id="13" name="Text 9"/>
          <p:cNvSpPr txBox="1"/>
          <p:nvPr/>
        </p:nvSpPr>
        <p:spPr>
          <a:xfrm>
            <a:off x="5998464" y="2647666"/>
            <a:ext cx="777240" cy="292608"/>
          </a:xfrm>
          <a:prstGeom prst="rect">
            <a:avLst/>
          </a:prstGeom>
          <a:noFill/>
          <a:ln/>
        </p:spPr>
        <p:txBody>
          <a:bodyPr wrap="square" lIns="0" tIns="0" rIns="0" bIns="0" rtlCol="0" anchor="ctr"/>
          <a:lstStyle/>
          <a:p>
            <a:pPr algn="ctr" indent="0" marL="0">
              <a:buNone/>
            </a:pPr>
            <a:r>
              <a:rPr lang="en-US" sz="1200" b="1" dirty="0">
                <a:solidFill>
                  <a:srgbClr val="16191F"/>
                </a:solidFill>
                <a:latin typeface="Calibri" pitchFamily="34" charset="0"/>
                <a:ea typeface="Calibri" pitchFamily="34" charset="-122"/>
                <a:cs typeface="Calibri" pitchFamily="34" charset="-120"/>
              </a:rPr>
              <a:t>Dashboard</a:t>
            </a:r>
            <a:endParaRPr lang="en-US" sz="1200" dirty="0"/>
          </a:p>
        </p:txBody>
      </p:sp>
      <p:sp>
        <p:nvSpPr>
          <p:cNvPr id="14" name="Text 10"/>
          <p:cNvSpPr txBox="1"/>
          <p:nvPr/>
        </p:nvSpPr>
        <p:spPr>
          <a:xfrm>
            <a:off x="548640" y="6537960"/>
            <a:ext cx="548640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AWS IAM  •  Groups &amp; Permissions</a:t>
            </a:r>
            <a:endParaRPr lang="en-US" sz="1000" dirty="0"/>
          </a:p>
        </p:txBody>
      </p:sp>
      <p:sp>
        <p:nvSpPr>
          <p:cNvPr id="15" name="Text 11"/>
          <p:cNvSpPr txBox="1"/>
          <p:nvPr/>
        </p:nvSpPr>
        <p:spPr>
          <a:xfrm>
            <a:off x="11155680" y="6537960"/>
            <a:ext cx="457200" cy="256032"/>
          </a:xfrm>
          <a:prstGeom prst="rect">
            <a:avLst/>
          </a:prstGeom>
          <a:noFill/>
          <a:ln/>
        </p:spPr>
        <p:txBody>
          <a:bodyPr wrap="square" lIns="0" tIns="0" rIns="0" bIns="0" rtlCol="0" anchor="ctr"/>
          <a:lstStyle/>
          <a:p>
            <a:pPr algn="r" indent="0" marL="0">
              <a:buNone/>
            </a:pPr>
            <a:r>
              <a:rPr lang="en-US" sz="1000" dirty="0">
                <a:solidFill>
                  <a:srgbClr val="6B74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300" b="1" spc="200" kern="0" dirty="0">
                <a:solidFill>
                  <a:srgbClr val="FF9900"/>
                </a:solidFill>
                <a:latin typeface="Calibri" pitchFamily="34" charset="0"/>
                <a:ea typeface="Calibri" pitchFamily="34" charset="-122"/>
                <a:cs typeface="Calibri" pitchFamily="34" charset="-120"/>
              </a:rPr>
              <a:t>STEP 2</a:t>
            </a:r>
            <a:endParaRPr lang="en-US" sz="1300" dirty="0"/>
          </a:p>
        </p:txBody>
      </p:sp>
      <p:sp>
        <p:nvSpPr>
          <p:cNvPr id="3" name="Text 1"/>
          <p:cNvSpPr txBox="1"/>
          <p:nvPr/>
        </p:nvSpPr>
        <p:spPr>
          <a:xfrm>
            <a:off x="548640" y="566928"/>
            <a:ext cx="10789920" cy="566928"/>
          </a:xfrm>
          <a:prstGeom prst="rect">
            <a:avLst/>
          </a:prstGeom>
          <a:noFill/>
          <a:ln/>
        </p:spPr>
        <p:txBody>
          <a:bodyPr wrap="square" lIns="0" tIns="0" rIns="0" bIns="0" rtlCol="0" anchor="ctr"/>
          <a:lstStyle/>
          <a:p>
            <a:pPr indent="0" marL="0">
              <a:buNone/>
            </a:pPr>
            <a:r>
              <a:rPr lang="en-US" sz="3000" b="1" dirty="0">
                <a:solidFill>
                  <a:srgbClr val="232F3E"/>
                </a:solidFill>
                <a:latin typeface="Cambria" pitchFamily="34" charset="0"/>
                <a:ea typeface="Cambria" pitchFamily="34" charset="-122"/>
                <a:cs typeface="Cambria" pitchFamily="34" charset="-120"/>
              </a:rPr>
              <a:t>Create the “Developers” User Group</a:t>
            </a:r>
            <a:endParaRPr lang="en-US" sz="3000" dirty="0"/>
          </a:p>
        </p:txBody>
      </p:sp>
      <p:sp>
        <p:nvSpPr>
          <p:cNvPr id="4" name="Shape 2"/>
          <p:cNvSpPr/>
          <p:nvPr/>
        </p:nvSpPr>
        <p:spPr>
          <a:xfrm>
            <a:off x="548640" y="1170432"/>
            <a:ext cx="11091672" cy="0"/>
          </a:xfrm>
          <a:prstGeom prst="line">
            <a:avLst/>
          </a:prstGeom>
          <a:noFill/>
          <a:ln w="12700">
            <a:solidFill>
              <a:srgbClr val="DDE1E6"/>
            </a:solidFill>
            <a:prstDash val="solid"/>
          </a:ln>
        </p:spPr>
      </p:sp>
      <p:sp>
        <p:nvSpPr>
          <p:cNvPr id="5" name="Text 3"/>
          <p:cNvSpPr txBox="1"/>
          <p:nvPr/>
        </p:nvSpPr>
        <p:spPr>
          <a:xfrm>
            <a:off x="548640" y="1371600"/>
            <a:ext cx="10881360" cy="548640"/>
          </a:xfrm>
          <a:prstGeom prst="rect">
            <a:avLst/>
          </a:prstGeom>
          <a:noFill/>
          <a:ln/>
        </p:spPr>
        <p:txBody>
          <a:bodyPr wrap="square" lIns="0" tIns="0" rIns="0" bIns="0" rtlCol="0" anchor="ctr"/>
          <a:lstStyle/>
          <a:p>
            <a:pPr indent="0" marL="0">
              <a:lnSpc>
                <a:spcPts val="2000"/>
              </a:lnSpc>
              <a:buNone/>
            </a:pPr>
            <a:r>
              <a:rPr lang="en-US" sz="1400" dirty="0">
                <a:solidFill>
                  <a:srgbClr val="6B7480"/>
                </a:solidFill>
                <a:latin typeface="Calibri" pitchFamily="34" charset="0"/>
                <a:ea typeface="Calibri" pitchFamily="34" charset="-122"/>
                <a:cs typeface="Calibri" pitchFamily="34" charset="-120"/>
              </a:rPr>
              <a:t>From IAM → User groups, the account starts with zero groups. Click Create group, name it Developers, and AWS confirms creation immediately.</a:t>
            </a:r>
            <a:endParaRPr lang="en-US" sz="1400" dirty="0"/>
          </a:p>
        </p:txBody>
      </p:sp>
      <p:sp>
        <p:nvSpPr>
          <p:cNvPr id="6" name="Shape 4"/>
          <p:cNvSpPr/>
          <p:nvPr/>
        </p:nvSpPr>
        <p:spPr>
          <a:xfrm>
            <a:off x="466344" y="2654984"/>
            <a:ext cx="5513832" cy="3193951"/>
          </a:xfrm>
          <a:prstGeom prst="roundRect">
            <a:avLst>
              <a:gd name="adj" fmla="val 1718"/>
            </a:avLst>
          </a:prstGeom>
          <a:solidFill>
            <a:srgbClr val="FFFFFF"/>
          </a:solidFill>
          <a:ln w="12700">
            <a:solidFill>
              <a:srgbClr val="DDE1E6"/>
            </a:solidFill>
            <a:prstDash val="solid"/>
          </a:ln>
          <a:effectLst>
            <a:outerShdw sx="100000" sy="100000" kx="0" ky="0" algn="bl" rotWithShape="0" blurRad="127000" dist="38100" dir="5400000">
              <a:srgbClr val="1A1A1A">
                <a:alpha val="28000"/>
              </a:srgbClr>
            </a:outerShdw>
          </a:effectLst>
        </p:spPr>
      </p:sp>
      <p:pic>
        <p:nvPicPr>
          <p:cNvPr id="7" name="Image 0" descr="/home/claude/iam_ppt/images/IMG-20260831-WA0054.jpg">    </p:cNvPr>
          <p:cNvPicPr>
            <a:picLocks noChangeAspect="1"/>
          </p:cNvPicPr>
          <p:nvPr/>
        </p:nvPicPr>
        <p:blipFill>
          <a:blip r:embed="rId1"/>
          <a:stretch>
            <a:fillRect/>
          </a:stretch>
        </p:blipFill>
        <p:spPr>
          <a:xfrm>
            <a:off x="548640" y="2737280"/>
            <a:ext cx="5349240" cy="3029359"/>
          </a:xfrm>
          <a:prstGeom prst="rect">
            <a:avLst/>
          </a:prstGeom>
        </p:spPr>
      </p:pic>
      <p:sp>
        <p:nvSpPr>
          <p:cNvPr id="8" name="Shape 5"/>
          <p:cNvSpPr/>
          <p:nvPr/>
        </p:nvSpPr>
        <p:spPr>
          <a:xfrm>
            <a:off x="466344" y="2636696"/>
            <a:ext cx="777240" cy="292608"/>
          </a:xfrm>
          <a:prstGeom prst="roundRect">
            <a:avLst>
              <a:gd name="adj" fmla="val 18750"/>
            </a:avLst>
          </a:prstGeom>
          <a:solidFill>
            <a:srgbClr val="FF9900"/>
          </a:solidFill>
          <a:ln/>
        </p:spPr>
      </p:sp>
      <p:sp>
        <p:nvSpPr>
          <p:cNvPr id="9" name="Text 6"/>
          <p:cNvSpPr txBox="1"/>
          <p:nvPr/>
        </p:nvSpPr>
        <p:spPr>
          <a:xfrm>
            <a:off x="466344" y="2636696"/>
            <a:ext cx="777240" cy="292608"/>
          </a:xfrm>
          <a:prstGeom prst="rect">
            <a:avLst/>
          </a:prstGeom>
          <a:noFill/>
          <a:ln/>
        </p:spPr>
        <p:txBody>
          <a:bodyPr wrap="square" lIns="0" tIns="0" rIns="0" bIns="0" rtlCol="0" anchor="ctr"/>
          <a:lstStyle/>
          <a:p>
            <a:pPr algn="ctr" indent="0" marL="0">
              <a:buNone/>
            </a:pPr>
            <a:r>
              <a:rPr lang="en-US" sz="1200" b="1" dirty="0">
                <a:solidFill>
                  <a:srgbClr val="16191F"/>
                </a:solidFill>
                <a:latin typeface="Calibri" pitchFamily="34" charset="0"/>
                <a:ea typeface="Calibri" pitchFamily="34" charset="-122"/>
                <a:cs typeface="Calibri" pitchFamily="34" charset="-120"/>
              </a:rPr>
              <a:t>Before</a:t>
            </a:r>
            <a:endParaRPr lang="en-US" sz="1200" dirty="0"/>
          </a:p>
        </p:txBody>
      </p:sp>
      <p:sp>
        <p:nvSpPr>
          <p:cNvPr id="10" name="Shape 7"/>
          <p:cNvSpPr/>
          <p:nvPr/>
        </p:nvSpPr>
        <p:spPr>
          <a:xfrm>
            <a:off x="6089904" y="2615184"/>
            <a:ext cx="5650992" cy="3273552"/>
          </a:xfrm>
          <a:prstGeom prst="roundRect">
            <a:avLst>
              <a:gd name="adj" fmla="val 1676"/>
            </a:avLst>
          </a:prstGeom>
          <a:solidFill>
            <a:srgbClr val="FFFFFF"/>
          </a:solidFill>
          <a:ln w="12700">
            <a:solidFill>
              <a:srgbClr val="DDE1E6"/>
            </a:solidFill>
            <a:prstDash val="solid"/>
          </a:ln>
          <a:effectLst>
            <a:outerShdw sx="100000" sy="100000" kx="0" ky="0" algn="bl" rotWithShape="0" blurRad="127000" dist="38100" dir="5400000">
              <a:srgbClr val="1A1A1A">
                <a:alpha val="28000"/>
              </a:srgbClr>
            </a:outerShdw>
          </a:effectLst>
        </p:spPr>
      </p:sp>
      <p:pic>
        <p:nvPicPr>
          <p:cNvPr id="11" name="Image 1" descr="/home/claude/iam_ppt/images/IMG-20260831-WA0056.jpg">    </p:cNvPr>
          <p:cNvPicPr>
            <a:picLocks noChangeAspect="1"/>
          </p:cNvPicPr>
          <p:nvPr/>
        </p:nvPicPr>
        <p:blipFill>
          <a:blip r:embed="rId2"/>
          <a:stretch>
            <a:fillRect/>
          </a:stretch>
        </p:blipFill>
        <p:spPr>
          <a:xfrm>
            <a:off x="6172200" y="2697480"/>
            <a:ext cx="5486400" cy="3108960"/>
          </a:xfrm>
          <a:prstGeom prst="rect">
            <a:avLst/>
          </a:prstGeom>
        </p:spPr>
      </p:pic>
      <p:sp>
        <p:nvSpPr>
          <p:cNvPr id="12" name="Shape 8"/>
          <p:cNvSpPr/>
          <p:nvPr/>
        </p:nvSpPr>
        <p:spPr>
          <a:xfrm>
            <a:off x="6089904" y="2596896"/>
            <a:ext cx="777240" cy="292608"/>
          </a:xfrm>
          <a:prstGeom prst="roundRect">
            <a:avLst>
              <a:gd name="adj" fmla="val 18750"/>
            </a:avLst>
          </a:prstGeom>
          <a:solidFill>
            <a:srgbClr val="FF9900"/>
          </a:solidFill>
          <a:ln/>
        </p:spPr>
      </p:sp>
      <p:sp>
        <p:nvSpPr>
          <p:cNvPr id="13" name="Text 9"/>
          <p:cNvSpPr txBox="1"/>
          <p:nvPr/>
        </p:nvSpPr>
        <p:spPr>
          <a:xfrm>
            <a:off x="6089904" y="2596896"/>
            <a:ext cx="777240" cy="292608"/>
          </a:xfrm>
          <a:prstGeom prst="rect">
            <a:avLst/>
          </a:prstGeom>
          <a:noFill/>
          <a:ln/>
        </p:spPr>
        <p:txBody>
          <a:bodyPr wrap="square" lIns="0" tIns="0" rIns="0" bIns="0" rtlCol="0" anchor="ctr"/>
          <a:lstStyle/>
          <a:p>
            <a:pPr algn="ctr" indent="0" marL="0">
              <a:buNone/>
            </a:pPr>
            <a:r>
              <a:rPr lang="en-US" sz="1200" b="1" dirty="0">
                <a:solidFill>
                  <a:srgbClr val="16191F"/>
                </a:solidFill>
                <a:latin typeface="Calibri" pitchFamily="34" charset="0"/>
                <a:ea typeface="Calibri" pitchFamily="34" charset="-122"/>
                <a:cs typeface="Calibri" pitchFamily="34" charset="-120"/>
              </a:rPr>
              <a:t>Created</a:t>
            </a:r>
            <a:endParaRPr lang="en-US" sz="1200" dirty="0"/>
          </a:p>
        </p:txBody>
      </p:sp>
      <p:sp>
        <p:nvSpPr>
          <p:cNvPr id="14" name="Text 10"/>
          <p:cNvSpPr txBox="1"/>
          <p:nvPr/>
        </p:nvSpPr>
        <p:spPr>
          <a:xfrm>
            <a:off x="548640" y="6537960"/>
            <a:ext cx="548640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AWS IAM  •  Groups &amp; Permissions</a:t>
            </a:r>
            <a:endParaRPr lang="en-US" sz="1000" dirty="0"/>
          </a:p>
        </p:txBody>
      </p:sp>
      <p:sp>
        <p:nvSpPr>
          <p:cNvPr id="15" name="Text 11"/>
          <p:cNvSpPr txBox="1"/>
          <p:nvPr/>
        </p:nvSpPr>
        <p:spPr>
          <a:xfrm>
            <a:off x="11155680" y="6537960"/>
            <a:ext cx="457200" cy="256032"/>
          </a:xfrm>
          <a:prstGeom prst="rect">
            <a:avLst/>
          </a:prstGeom>
          <a:noFill/>
          <a:ln/>
        </p:spPr>
        <p:txBody>
          <a:bodyPr wrap="square" lIns="0" tIns="0" rIns="0" bIns="0" rtlCol="0" anchor="ctr"/>
          <a:lstStyle/>
          <a:p>
            <a:pPr algn="r" indent="0" marL="0">
              <a:buNone/>
            </a:pPr>
            <a:r>
              <a:rPr lang="en-US" sz="1000" dirty="0">
                <a:solidFill>
                  <a:srgbClr val="6B74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300" b="1" spc="200" kern="0" dirty="0">
                <a:solidFill>
                  <a:srgbClr val="FF9900"/>
                </a:solidFill>
                <a:latin typeface="Calibri" pitchFamily="34" charset="0"/>
                <a:ea typeface="Calibri" pitchFamily="34" charset="-122"/>
                <a:cs typeface="Calibri" pitchFamily="34" charset="-120"/>
              </a:rPr>
              <a:t>STEP 3</a:t>
            </a:r>
            <a:endParaRPr lang="en-US" sz="1300" dirty="0"/>
          </a:p>
        </p:txBody>
      </p:sp>
      <p:sp>
        <p:nvSpPr>
          <p:cNvPr id="3" name="Text 1"/>
          <p:cNvSpPr txBox="1"/>
          <p:nvPr/>
        </p:nvSpPr>
        <p:spPr>
          <a:xfrm>
            <a:off x="548640" y="566928"/>
            <a:ext cx="10789920" cy="566928"/>
          </a:xfrm>
          <a:prstGeom prst="rect">
            <a:avLst/>
          </a:prstGeom>
          <a:noFill/>
          <a:ln/>
        </p:spPr>
        <p:txBody>
          <a:bodyPr wrap="square" lIns="0" tIns="0" rIns="0" bIns="0" rtlCol="0" anchor="ctr"/>
          <a:lstStyle/>
          <a:p>
            <a:pPr indent="0" marL="0">
              <a:buNone/>
            </a:pPr>
            <a:r>
              <a:rPr lang="en-US" sz="3000" b="1" dirty="0">
                <a:solidFill>
                  <a:srgbClr val="232F3E"/>
                </a:solidFill>
                <a:latin typeface="Cambria" pitchFamily="34" charset="0"/>
                <a:ea typeface="Cambria" pitchFamily="34" charset="-122"/>
                <a:cs typeface="Cambria" pitchFamily="34" charset="-120"/>
              </a:rPr>
              <a:t>Attach Permissions to Developers</a:t>
            </a:r>
            <a:endParaRPr lang="en-US" sz="3000" dirty="0"/>
          </a:p>
        </p:txBody>
      </p:sp>
      <p:sp>
        <p:nvSpPr>
          <p:cNvPr id="4" name="Shape 2"/>
          <p:cNvSpPr/>
          <p:nvPr/>
        </p:nvSpPr>
        <p:spPr>
          <a:xfrm>
            <a:off x="548640" y="1170432"/>
            <a:ext cx="11091672" cy="0"/>
          </a:xfrm>
          <a:prstGeom prst="line">
            <a:avLst/>
          </a:prstGeom>
          <a:noFill/>
          <a:ln w="12700">
            <a:solidFill>
              <a:srgbClr val="DDE1E6"/>
            </a:solidFill>
            <a:prstDash val="solid"/>
          </a:ln>
        </p:spPr>
      </p:sp>
      <p:sp>
        <p:nvSpPr>
          <p:cNvPr id="5" name="Shape 3"/>
          <p:cNvSpPr/>
          <p:nvPr/>
        </p:nvSpPr>
        <p:spPr>
          <a:xfrm>
            <a:off x="4078224" y="1700625"/>
            <a:ext cx="7616952" cy="4371151"/>
          </a:xfrm>
          <a:prstGeom prst="roundRect">
            <a:avLst>
              <a:gd name="adj" fmla="val 1255"/>
            </a:avLst>
          </a:prstGeom>
          <a:solidFill>
            <a:srgbClr val="FFFFFF"/>
          </a:solidFill>
          <a:ln w="12700">
            <a:solidFill>
              <a:srgbClr val="DDE1E6"/>
            </a:solidFill>
            <a:prstDash val="solid"/>
          </a:ln>
          <a:effectLst>
            <a:outerShdw sx="100000" sy="100000" kx="0" ky="0" algn="bl" rotWithShape="0" blurRad="127000" dist="38100" dir="5400000">
              <a:srgbClr val="1A1A1A">
                <a:alpha val="28000"/>
              </a:srgbClr>
            </a:outerShdw>
          </a:effectLst>
        </p:spPr>
      </p:sp>
      <p:pic>
        <p:nvPicPr>
          <p:cNvPr id="6" name="Image 0" descr="/home/claude/iam_ppt/images/IMG-20260831-WA0058.jpg">    </p:cNvPr>
          <p:cNvPicPr>
            <a:picLocks noChangeAspect="1"/>
          </p:cNvPicPr>
          <p:nvPr/>
        </p:nvPicPr>
        <p:blipFill>
          <a:blip r:embed="rId1"/>
          <a:stretch>
            <a:fillRect/>
          </a:stretch>
        </p:blipFill>
        <p:spPr>
          <a:xfrm>
            <a:off x="4160520" y="1782921"/>
            <a:ext cx="7452360" cy="4206559"/>
          </a:xfrm>
          <a:prstGeom prst="rect">
            <a:avLst/>
          </a:prstGeom>
        </p:spPr>
      </p:pic>
      <p:sp>
        <p:nvSpPr>
          <p:cNvPr id="7" name="Shape 4"/>
          <p:cNvSpPr/>
          <p:nvPr/>
        </p:nvSpPr>
        <p:spPr>
          <a:xfrm>
            <a:off x="4078224" y="1682337"/>
            <a:ext cx="777240" cy="292608"/>
          </a:xfrm>
          <a:prstGeom prst="roundRect">
            <a:avLst>
              <a:gd name="adj" fmla="val 18750"/>
            </a:avLst>
          </a:prstGeom>
          <a:solidFill>
            <a:srgbClr val="FF9900"/>
          </a:solidFill>
          <a:ln/>
        </p:spPr>
      </p:sp>
      <p:sp>
        <p:nvSpPr>
          <p:cNvPr id="8" name="Text 5"/>
          <p:cNvSpPr txBox="1"/>
          <p:nvPr/>
        </p:nvSpPr>
        <p:spPr>
          <a:xfrm>
            <a:off x="4078224" y="1682337"/>
            <a:ext cx="777240" cy="292608"/>
          </a:xfrm>
          <a:prstGeom prst="rect">
            <a:avLst/>
          </a:prstGeom>
          <a:noFill/>
          <a:ln/>
        </p:spPr>
        <p:txBody>
          <a:bodyPr wrap="square" lIns="0" tIns="0" rIns="0" bIns="0" rtlCol="0" anchor="ctr"/>
          <a:lstStyle/>
          <a:p>
            <a:pPr algn="ctr" indent="0" marL="0">
              <a:buNone/>
            </a:pPr>
            <a:r>
              <a:rPr lang="en-US" sz="1200" b="1" dirty="0">
                <a:solidFill>
                  <a:srgbClr val="16191F"/>
                </a:solidFill>
                <a:latin typeface="Calibri" pitchFamily="34" charset="0"/>
                <a:ea typeface="Calibri" pitchFamily="34" charset="-122"/>
                <a:cs typeface="Calibri" pitchFamily="34" charset="-120"/>
              </a:rPr>
              <a:t>Console</a:t>
            </a:r>
            <a:endParaRPr lang="en-US" sz="1200" dirty="0"/>
          </a:p>
        </p:txBody>
      </p:sp>
      <p:sp>
        <p:nvSpPr>
          <p:cNvPr id="9" name="Text 6"/>
          <p:cNvSpPr txBox="1"/>
          <p:nvPr/>
        </p:nvSpPr>
        <p:spPr>
          <a:xfrm>
            <a:off x="548640" y="1600200"/>
            <a:ext cx="3291840" cy="320040"/>
          </a:xfrm>
          <a:prstGeom prst="rect">
            <a:avLst/>
          </a:prstGeom>
          <a:noFill/>
          <a:ln/>
        </p:spPr>
        <p:txBody>
          <a:bodyPr wrap="square" lIns="0" tIns="0" rIns="0" bIns="0" rtlCol="0" anchor="ctr"/>
          <a:lstStyle/>
          <a:p>
            <a:pPr indent="0" marL="0">
              <a:buNone/>
            </a:pPr>
            <a:r>
              <a:rPr lang="en-US" sz="1500" b="1" dirty="0">
                <a:solidFill>
                  <a:srgbClr val="232F3E"/>
                </a:solidFill>
                <a:latin typeface="Calibri" pitchFamily="34" charset="0"/>
                <a:ea typeface="Calibri" pitchFamily="34" charset="-122"/>
                <a:cs typeface="Calibri" pitchFamily="34" charset="-120"/>
              </a:rPr>
              <a:t>Policies attached</a:t>
            </a:r>
            <a:endParaRPr lang="en-US" sz="1500" dirty="0"/>
          </a:p>
        </p:txBody>
      </p:sp>
      <p:sp>
        <p:nvSpPr>
          <p:cNvPr id="10" name="Shape 7"/>
          <p:cNvSpPr/>
          <p:nvPr/>
        </p:nvSpPr>
        <p:spPr>
          <a:xfrm>
            <a:off x="548640" y="2057400"/>
            <a:ext cx="3291840" cy="960120"/>
          </a:xfrm>
          <a:prstGeom prst="roundRect">
            <a:avLst>
              <a:gd name="adj" fmla="val 7619"/>
            </a:avLst>
          </a:prstGeom>
          <a:solidFill>
            <a:srgbClr val="F5F6F8"/>
          </a:solidFill>
          <a:ln w="12700">
            <a:solidFill>
              <a:srgbClr val="DDE1E6"/>
            </a:solidFill>
            <a:prstDash val="solid"/>
          </a:ln>
        </p:spPr>
      </p:sp>
      <p:sp>
        <p:nvSpPr>
          <p:cNvPr id="11" name="Shape 8"/>
          <p:cNvSpPr/>
          <p:nvPr/>
        </p:nvSpPr>
        <p:spPr>
          <a:xfrm>
            <a:off x="713232" y="2221992"/>
            <a:ext cx="146304" cy="146304"/>
          </a:xfrm>
          <a:prstGeom prst="roundRect">
            <a:avLst/>
          </a:prstGeom>
          <a:solidFill>
            <a:srgbClr val="FF9900"/>
          </a:solidFill>
          <a:ln/>
        </p:spPr>
      </p:sp>
      <p:sp>
        <p:nvSpPr>
          <p:cNvPr id="12" name="Text 9"/>
          <p:cNvSpPr txBox="1"/>
          <p:nvPr/>
        </p:nvSpPr>
        <p:spPr>
          <a:xfrm>
            <a:off x="960120" y="2167128"/>
            <a:ext cx="2743200" cy="292608"/>
          </a:xfrm>
          <a:prstGeom prst="rect">
            <a:avLst/>
          </a:prstGeom>
          <a:noFill/>
          <a:ln/>
        </p:spPr>
        <p:txBody>
          <a:bodyPr wrap="square" lIns="0" tIns="0" rIns="0" bIns="0" rtlCol="0" anchor="ctr"/>
          <a:lstStyle/>
          <a:p>
            <a:pPr indent="0" marL="0">
              <a:buNone/>
            </a:pPr>
            <a:r>
              <a:rPr lang="en-US" sz="1250" b="1" dirty="0">
                <a:solidFill>
                  <a:srgbClr val="232F3E"/>
                </a:solidFill>
                <a:latin typeface="Calibri" pitchFamily="34" charset="0"/>
                <a:ea typeface="Calibri" pitchFamily="34" charset="-122"/>
                <a:cs typeface="Calibri" pitchFamily="34" charset="-120"/>
              </a:rPr>
              <a:t>AmazonEC2FullAccess</a:t>
            </a:r>
            <a:endParaRPr lang="en-US" sz="1250" dirty="0"/>
          </a:p>
        </p:txBody>
      </p:sp>
      <p:sp>
        <p:nvSpPr>
          <p:cNvPr id="13" name="Text 10"/>
          <p:cNvSpPr txBox="1"/>
          <p:nvPr/>
        </p:nvSpPr>
        <p:spPr>
          <a:xfrm>
            <a:off x="713232" y="2496312"/>
            <a:ext cx="2971800" cy="457200"/>
          </a:xfrm>
          <a:prstGeom prst="rect">
            <a:avLst/>
          </a:prstGeom>
          <a:noFill/>
          <a:ln/>
        </p:spPr>
        <p:txBody>
          <a:bodyPr wrap="square" lIns="0" tIns="0" rIns="0" bIns="0" rtlCol="0" anchor="ctr"/>
          <a:lstStyle/>
          <a:p>
            <a:pPr indent="0" marL="0">
              <a:lnSpc>
                <a:spcPts val="1300"/>
              </a:lnSpc>
              <a:buNone/>
            </a:pPr>
            <a:r>
              <a:rPr lang="en-US" sz="1050" dirty="0">
                <a:solidFill>
                  <a:srgbClr val="6B7480"/>
                </a:solidFill>
                <a:latin typeface="Calibri" pitchFamily="34" charset="0"/>
                <a:ea typeface="Calibri" pitchFamily="34" charset="-122"/>
                <a:cs typeface="Calibri" pitchFamily="34" charset="-120"/>
              </a:rPr>
              <a:t>Full control over EC2 instances and resources.</a:t>
            </a:r>
            <a:endParaRPr lang="en-US" sz="1050" dirty="0"/>
          </a:p>
        </p:txBody>
      </p:sp>
      <p:sp>
        <p:nvSpPr>
          <p:cNvPr id="14" name="Shape 11"/>
          <p:cNvSpPr/>
          <p:nvPr/>
        </p:nvSpPr>
        <p:spPr>
          <a:xfrm>
            <a:off x="548640" y="3200400"/>
            <a:ext cx="3291840" cy="960120"/>
          </a:xfrm>
          <a:prstGeom prst="roundRect">
            <a:avLst>
              <a:gd name="adj" fmla="val 7619"/>
            </a:avLst>
          </a:prstGeom>
          <a:solidFill>
            <a:srgbClr val="F5F6F8"/>
          </a:solidFill>
          <a:ln w="12700">
            <a:solidFill>
              <a:srgbClr val="DDE1E6"/>
            </a:solidFill>
            <a:prstDash val="solid"/>
          </a:ln>
        </p:spPr>
      </p:sp>
      <p:sp>
        <p:nvSpPr>
          <p:cNvPr id="15" name="Shape 12"/>
          <p:cNvSpPr/>
          <p:nvPr/>
        </p:nvSpPr>
        <p:spPr>
          <a:xfrm>
            <a:off x="713232" y="3364992"/>
            <a:ext cx="146304" cy="146304"/>
          </a:xfrm>
          <a:prstGeom prst="roundRect">
            <a:avLst/>
          </a:prstGeom>
          <a:solidFill>
            <a:srgbClr val="FF9900"/>
          </a:solidFill>
          <a:ln/>
        </p:spPr>
      </p:sp>
      <p:sp>
        <p:nvSpPr>
          <p:cNvPr id="16" name="Text 13"/>
          <p:cNvSpPr txBox="1"/>
          <p:nvPr/>
        </p:nvSpPr>
        <p:spPr>
          <a:xfrm>
            <a:off x="960120" y="3310128"/>
            <a:ext cx="2743200" cy="292608"/>
          </a:xfrm>
          <a:prstGeom prst="rect">
            <a:avLst/>
          </a:prstGeom>
          <a:noFill/>
          <a:ln/>
        </p:spPr>
        <p:txBody>
          <a:bodyPr wrap="square" lIns="0" tIns="0" rIns="0" bIns="0" rtlCol="0" anchor="ctr"/>
          <a:lstStyle/>
          <a:p>
            <a:pPr indent="0" marL="0">
              <a:buNone/>
            </a:pPr>
            <a:r>
              <a:rPr lang="en-US" sz="1250" b="1" dirty="0">
                <a:solidFill>
                  <a:srgbClr val="232F3E"/>
                </a:solidFill>
                <a:latin typeface="Calibri" pitchFamily="34" charset="0"/>
                <a:ea typeface="Calibri" pitchFamily="34" charset="-122"/>
                <a:cs typeface="Calibri" pitchFamily="34" charset="-120"/>
              </a:rPr>
              <a:t>AmazonS3ReadOnlyAccess</a:t>
            </a:r>
            <a:endParaRPr lang="en-US" sz="1250" dirty="0"/>
          </a:p>
        </p:txBody>
      </p:sp>
      <p:sp>
        <p:nvSpPr>
          <p:cNvPr id="17" name="Text 14"/>
          <p:cNvSpPr txBox="1"/>
          <p:nvPr/>
        </p:nvSpPr>
        <p:spPr>
          <a:xfrm>
            <a:off x="713232" y="3639312"/>
            <a:ext cx="2971800" cy="457200"/>
          </a:xfrm>
          <a:prstGeom prst="rect">
            <a:avLst/>
          </a:prstGeom>
          <a:noFill/>
          <a:ln/>
        </p:spPr>
        <p:txBody>
          <a:bodyPr wrap="square" lIns="0" tIns="0" rIns="0" bIns="0" rtlCol="0" anchor="ctr"/>
          <a:lstStyle/>
          <a:p>
            <a:pPr indent="0" marL="0">
              <a:lnSpc>
                <a:spcPts val="1300"/>
              </a:lnSpc>
              <a:buNone/>
            </a:pPr>
            <a:r>
              <a:rPr lang="en-US" sz="1050" dirty="0">
                <a:solidFill>
                  <a:srgbClr val="6B7480"/>
                </a:solidFill>
                <a:latin typeface="Calibri" pitchFamily="34" charset="0"/>
                <a:ea typeface="Calibri" pitchFamily="34" charset="-122"/>
                <a:cs typeface="Calibri" pitchFamily="34" charset="-120"/>
              </a:rPr>
              <a:t>View and read objects across S3 buckets.</a:t>
            </a:r>
            <a:endParaRPr lang="en-US" sz="1050" dirty="0"/>
          </a:p>
        </p:txBody>
      </p:sp>
      <p:sp>
        <p:nvSpPr>
          <p:cNvPr id="18" name="Text 15"/>
          <p:cNvSpPr txBox="1"/>
          <p:nvPr/>
        </p:nvSpPr>
        <p:spPr>
          <a:xfrm>
            <a:off x="548640" y="4434840"/>
            <a:ext cx="3383280" cy="1188720"/>
          </a:xfrm>
          <a:prstGeom prst="rect">
            <a:avLst/>
          </a:prstGeom>
          <a:noFill/>
          <a:ln/>
        </p:spPr>
        <p:txBody>
          <a:bodyPr wrap="square" lIns="0" tIns="0" rIns="0" bIns="0" rtlCol="0" anchor="ctr"/>
          <a:lstStyle/>
          <a:p>
            <a:pPr indent="0" marL="0">
              <a:lnSpc>
                <a:spcPts val="1600"/>
              </a:lnSpc>
              <a:buNone/>
            </a:pPr>
            <a:r>
              <a:rPr lang="en-US" sz="1150" i="1" dirty="0">
                <a:solidFill>
                  <a:srgbClr val="6B7480"/>
                </a:solidFill>
                <a:latin typeface="Calibri" pitchFamily="34" charset="0"/>
                <a:ea typeface="Calibri" pitchFamily="34" charset="-122"/>
                <a:cs typeface="Calibri" pitchFamily="34" charset="-120"/>
              </a:rPr>
              <a:t>Any user later added to this group automatically inherits both policies — no per-user setup needed.</a:t>
            </a:r>
            <a:endParaRPr lang="en-US" sz="1150" dirty="0"/>
          </a:p>
        </p:txBody>
      </p:sp>
      <p:sp>
        <p:nvSpPr>
          <p:cNvPr id="19" name="Text 16"/>
          <p:cNvSpPr txBox="1"/>
          <p:nvPr/>
        </p:nvSpPr>
        <p:spPr>
          <a:xfrm>
            <a:off x="548640" y="6537960"/>
            <a:ext cx="548640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AWS IAM  •  Groups &amp; Permissions</a:t>
            </a:r>
            <a:endParaRPr lang="en-US" sz="1000" dirty="0"/>
          </a:p>
        </p:txBody>
      </p:sp>
      <p:sp>
        <p:nvSpPr>
          <p:cNvPr id="20" name="Text 17"/>
          <p:cNvSpPr txBox="1"/>
          <p:nvPr/>
        </p:nvSpPr>
        <p:spPr>
          <a:xfrm>
            <a:off x="11155680" y="6537960"/>
            <a:ext cx="457200" cy="256032"/>
          </a:xfrm>
          <a:prstGeom prst="rect">
            <a:avLst/>
          </a:prstGeom>
          <a:noFill/>
          <a:ln/>
        </p:spPr>
        <p:txBody>
          <a:bodyPr wrap="square" lIns="0" tIns="0" rIns="0" bIns="0" rtlCol="0" anchor="ctr"/>
          <a:lstStyle/>
          <a:p>
            <a:pPr algn="r" indent="0" marL="0">
              <a:buNone/>
            </a:pPr>
            <a:r>
              <a:rPr lang="en-US" sz="1000" dirty="0">
                <a:solidFill>
                  <a:srgbClr val="6B74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300" b="1" spc="200" kern="0" dirty="0">
                <a:solidFill>
                  <a:srgbClr val="FF9900"/>
                </a:solidFill>
                <a:latin typeface="Calibri" pitchFamily="34" charset="0"/>
                <a:ea typeface="Calibri" pitchFamily="34" charset="-122"/>
                <a:cs typeface="Calibri" pitchFamily="34" charset="-120"/>
              </a:rPr>
              <a:t>STEP 4</a:t>
            </a:r>
            <a:endParaRPr lang="en-US" sz="1300" dirty="0"/>
          </a:p>
        </p:txBody>
      </p:sp>
      <p:sp>
        <p:nvSpPr>
          <p:cNvPr id="3" name="Text 1"/>
          <p:cNvSpPr txBox="1"/>
          <p:nvPr/>
        </p:nvSpPr>
        <p:spPr>
          <a:xfrm>
            <a:off x="548640" y="566928"/>
            <a:ext cx="10789920" cy="566928"/>
          </a:xfrm>
          <a:prstGeom prst="rect">
            <a:avLst/>
          </a:prstGeom>
          <a:noFill/>
          <a:ln/>
        </p:spPr>
        <p:txBody>
          <a:bodyPr wrap="square" lIns="0" tIns="0" rIns="0" bIns="0" rtlCol="0" anchor="ctr"/>
          <a:lstStyle/>
          <a:p>
            <a:pPr indent="0" marL="0">
              <a:buNone/>
            </a:pPr>
            <a:r>
              <a:rPr lang="en-US" sz="3000" b="1" dirty="0">
                <a:solidFill>
                  <a:srgbClr val="232F3E"/>
                </a:solidFill>
                <a:latin typeface="Cambria" pitchFamily="34" charset="0"/>
                <a:ea typeface="Cambria" pitchFamily="34" charset="-122"/>
                <a:cs typeface="Cambria" pitchFamily="34" charset="-120"/>
              </a:rPr>
              <a:t>Create the “Admins” Group</a:t>
            </a:r>
            <a:endParaRPr lang="en-US" sz="3000" dirty="0"/>
          </a:p>
        </p:txBody>
      </p:sp>
      <p:sp>
        <p:nvSpPr>
          <p:cNvPr id="4" name="Shape 2"/>
          <p:cNvSpPr/>
          <p:nvPr/>
        </p:nvSpPr>
        <p:spPr>
          <a:xfrm>
            <a:off x="548640" y="1170432"/>
            <a:ext cx="11091672" cy="0"/>
          </a:xfrm>
          <a:prstGeom prst="line">
            <a:avLst/>
          </a:prstGeom>
          <a:noFill/>
          <a:ln w="12700">
            <a:solidFill>
              <a:srgbClr val="DDE1E6"/>
            </a:solidFill>
            <a:prstDash val="solid"/>
          </a:ln>
        </p:spPr>
      </p:sp>
      <p:sp>
        <p:nvSpPr>
          <p:cNvPr id="5" name="Text 3"/>
          <p:cNvSpPr txBox="1"/>
          <p:nvPr/>
        </p:nvSpPr>
        <p:spPr>
          <a:xfrm>
            <a:off x="548640" y="1371600"/>
            <a:ext cx="10881360" cy="548640"/>
          </a:xfrm>
          <a:prstGeom prst="rect">
            <a:avLst/>
          </a:prstGeom>
          <a:noFill/>
          <a:ln/>
        </p:spPr>
        <p:txBody>
          <a:bodyPr wrap="square" lIns="0" tIns="0" rIns="0" bIns="0" rtlCol="0" anchor="ctr"/>
          <a:lstStyle/>
          <a:p>
            <a:pPr indent="0" marL="0">
              <a:lnSpc>
                <a:spcPts val="2000"/>
              </a:lnSpc>
              <a:buNone/>
            </a:pPr>
            <a:r>
              <a:rPr lang="en-US" sz="1400" dirty="0">
                <a:solidFill>
                  <a:srgbClr val="6B7480"/>
                </a:solidFill>
                <a:latin typeface="Calibri" pitchFamily="34" charset="0"/>
                <a:ea typeface="Calibri" pitchFamily="34" charset="-122"/>
                <a:cs typeface="Calibri" pitchFamily="34" charset="-120"/>
              </a:rPr>
              <a:t>A second group, Admins, is created the same way. The IAM user groups list now shows both groups, and AdministratorAccess is attached to Admins for full account privileges.</a:t>
            </a:r>
            <a:endParaRPr lang="en-US" sz="1400" dirty="0"/>
          </a:p>
        </p:txBody>
      </p:sp>
      <p:sp>
        <p:nvSpPr>
          <p:cNvPr id="6" name="Shape 4"/>
          <p:cNvSpPr/>
          <p:nvPr/>
        </p:nvSpPr>
        <p:spPr>
          <a:xfrm>
            <a:off x="466344" y="2668905"/>
            <a:ext cx="5513832" cy="3166110"/>
          </a:xfrm>
          <a:prstGeom prst="roundRect">
            <a:avLst>
              <a:gd name="adj" fmla="val 1733"/>
            </a:avLst>
          </a:prstGeom>
          <a:solidFill>
            <a:srgbClr val="FFFFFF"/>
          </a:solidFill>
          <a:ln w="12700">
            <a:solidFill>
              <a:srgbClr val="DDE1E6"/>
            </a:solidFill>
            <a:prstDash val="solid"/>
          </a:ln>
          <a:effectLst>
            <a:outerShdw sx="100000" sy="100000" kx="0" ky="0" algn="bl" rotWithShape="0" blurRad="127000" dist="38100" dir="5400000">
              <a:srgbClr val="1A1A1A">
                <a:alpha val="28000"/>
              </a:srgbClr>
            </a:outerShdw>
          </a:effectLst>
        </p:spPr>
      </p:sp>
      <p:pic>
        <p:nvPicPr>
          <p:cNvPr id="7" name="Image 0" descr="/home/claude/iam_ppt/images/IMG-20260831-WA0060.jpg">    </p:cNvPr>
          <p:cNvPicPr>
            <a:picLocks noChangeAspect="1"/>
          </p:cNvPicPr>
          <p:nvPr/>
        </p:nvPicPr>
        <p:blipFill>
          <a:blip r:embed="rId1"/>
          <a:stretch>
            <a:fillRect/>
          </a:stretch>
        </p:blipFill>
        <p:spPr>
          <a:xfrm>
            <a:off x="548640" y="2751201"/>
            <a:ext cx="5349240" cy="3001518"/>
          </a:xfrm>
          <a:prstGeom prst="rect">
            <a:avLst/>
          </a:prstGeom>
        </p:spPr>
      </p:pic>
      <p:sp>
        <p:nvSpPr>
          <p:cNvPr id="8" name="Shape 5"/>
          <p:cNvSpPr/>
          <p:nvPr/>
        </p:nvSpPr>
        <p:spPr>
          <a:xfrm>
            <a:off x="466344" y="2650617"/>
            <a:ext cx="777240" cy="292608"/>
          </a:xfrm>
          <a:prstGeom prst="roundRect">
            <a:avLst>
              <a:gd name="adj" fmla="val 18750"/>
            </a:avLst>
          </a:prstGeom>
          <a:solidFill>
            <a:srgbClr val="FF9900"/>
          </a:solidFill>
          <a:ln/>
        </p:spPr>
      </p:sp>
      <p:sp>
        <p:nvSpPr>
          <p:cNvPr id="9" name="Text 6"/>
          <p:cNvSpPr txBox="1"/>
          <p:nvPr/>
        </p:nvSpPr>
        <p:spPr>
          <a:xfrm>
            <a:off x="466344" y="2650617"/>
            <a:ext cx="777240" cy="292608"/>
          </a:xfrm>
          <a:prstGeom prst="rect">
            <a:avLst/>
          </a:prstGeom>
          <a:noFill/>
          <a:ln/>
        </p:spPr>
        <p:txBody>
          <a:bodyPr wrap="square" lIns="0" tIns="0" rIns="0" bIns="0" rtlCol="0" anchor="ctr"/>
          <a:lstStyle/>
          <a:p>
            <a:pPr algn="ctr" indent="0" marL="0">
              <a:buNone/>
            </a:pPr>
            <a:r>
              <a:rPr lang="en-US" sz="1200" b="1" dirty="0">
                <a:solidFill>
                  <a:srgbClr val="16191F"/>
                </a:solidFill>
                <a:latin typeface="Calibri" pitchFamily="34" charset="0"/>
                <a:ea typeface="Calibri" pitchFamily="34" charset="-122"/>
                <a:cs typeface="Calibri" pitchFamily="34" charset="-120"/>
              </a:rPr>
              <a:t>2 Groups</a:t>
            </a:r>
            <a:endParaRPr lang="en-US" sz="1200" dirty="0"/>
          </a:p>
        </p:txBody>
      </p:sp>
      <p:sp>
        <p:nvSpPr>
          <p:cNvPr id="10" name="Shape 7"/>
          <p:cNvSpPr/>
          <p:nvPr/>
        </p:nvSpPr>
        <p:spPr>
          <a:xfrm>
            <a:off x="6089904" y="2622804"/>
            <a:ext cx="5650992" cy="3258312"/>
          </a:xfrm>
          <a:prstGeom prst="roundRect">
            <a:avLst>
              <a:gd name="adj" fmla="val 1684"/>
            </a:avLst>
          </a:prstGeom>
          <a:solidFill>
            <a:srgbClr val="FFFFFF"/>
          </a:solidFill>
          <a:ln w="12700">
            <a:solidFill>
              <a:srgbClr val="DDE1E6"/>
            </a:solidFill>
            <a:prstDash val="solid"/>
          </a:ln>
          <a:effectLst>
            <a:outerShdw sx="100000" sy="100000" kx="0" ky="0" algn="bl" rotWithShape="0" blurRad="127000" dist="38100" dir="5400000">
              <a:srgbClr val="1A1A1A">
                <a:alpha val="28000"/>
              </a:srgbClr>
            </a:outerShdw>
          </a:effectLst>
        </p:spPr>
      </p:sp>
      <p:pic>
        <p:nvPicPr>
          <p:cNvPr id="11" name="Image 1" descr="/home/claude/iam_ppt/images/IMG-20260831-WA0062.jpg">    </p:cNvPr>
          <p:cNvPicPr>
            <a:picLocks noChangeAspect="1"/>
          </p:cNvPicPr>
          <p:nvPr/>
        </p:nvPicPr>
        <p:blipFill>
          <a:blip r:embed="rId2"/>
          <a:stretch>
            <a:fillRect/>
          </a:stretch>
        </p:blipFill>
        <p:spPr>
          <a:xfrm>
            <a:off x="6172200" y="2705100"/>
            <a:ext cx="5486400" cy="3093720"/>
          </a:xfrm>
          <a:prstGeom prst="rect">
            <a:avLst/>
          </a:prstGeom>
        </p:spPr>
      </p:pic>
      <p:sp>
        <p:nvSpPr>
          <p:cNvPr id="12" name="Shape 8"/>
          <p:cNvSpPr/>
          <p:nvPr/>
        </p:nvSpPr>
        <p:spPr>
          <a:xfrm>
            <a:off x="6089904" y="2604516"/>
            <a:ext cx="777240" cy="292608"/>
          </a:xfrm>
          <a:prstGeom prst="roundRect">
            <a:avLst>
              <a:gd name="adj" fmla="val 18750"/>
            </a:avLst>
          </a:prstGeom>
          <a:solidFill>
            <a:srgbClr val="FF9900"/>
          </a:solidFill>
          <a:ln/>
        </p:spPr>
      </p:sp>
      <p:sp>
        <p:nvSpPr>
          <p:cNvPr id="13" name="Text 9"/>
          <p:cNvSpPr txBox="1"/>
          <p:nvPr/>
        </p:nvSpPr>
        <p:spPr>
          <a:xfrm>
            <a:off x="6089904" y="2604516"/>
            <a:ext cx="777240" cy="292608"/>
          </a:xfrm>
          <a:prstGeom prst="rect">
            <a:avLst/>
          </a:prstGeom>
          <a:noFill/>
          <a:ln/>
        </p:spPr>
        <p:txBody>
          <a:bodyPr wrap="square" lIns="0" tIns="0" rIns="0" bIns="0" rtlCol="0" anchor="ctr"/>
          <a:lstStyle/>
          <a:p>
            <a:pPr algn="ctr" indent="0" marL="0">
              <a:buNone/>
            </a:pPr>
            <a:r>
              <a:rPr lang="en-US" sz="1200" b="1" dirty="0">
                <a:solidFill>
                  <a:srgbClr val="16191F"/>
                </a:solidFill>
                <a:latin typeface="Calibri" pitchFamily="34" charset="0"/>
                <a:ea typeface="Calibri" pitchFamily="34" charset="-122"/>
                <a:cs typeface="Calibri" pitchFamily="34" charset="-120"/>
              </a:rPr>
              <a:t>Admins</a:t>
            </a:r>
            <a:endParaRPr lang="en-US" sz="1200" dirty="0"/>
          </a:p>
        </p:txBody>
      </p:sp>
      <p:sp>
        <p:nvSpPr>
          <p:cNvPr id="14" name="Text 10"/>
          <p:cNvSpPr txBox="1"/>
          <p:nvPr/>
        </p:nvSpPr>
        <p:spPr>
          <a:xfrm>
            <a:off x="548640" y="6537960"/>
            <a:ext cx="548640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AWS IAM  •  Groups &amp; Permissions</a:t>
            </a:r>
            <a:endParaRPr lang="en-US" sz="1000" dirty="0"/>
          </a:p>
        </p:txBody>
      </p:sp>
      <p:sp>
        <p:nvSpPr>
          <p:cNvPr id="15" name="Text 11"/>
          <p:cNvSpPr txBox="1"/>
          <p:nvPr/>
        </p:nvSpPr>
        <p:spPr>
          <a:xfrm>
            <a:off x="11155680" y="6537960"/>
            <a:ext cx="457200" cy="256032"/>
          </a:xfrm>
          <a:prstGeom prst="rect">
            <a:avLst/>
          </a:prstGeom>
          <a:noFill/>
          <a:ln/>
        </p:spPr>
        <p:txBody>
          <a:bodyPr wrap="square" lIns="0" tIns="0" rIns="0" bIns="0" rtlCol="0" anchor="ctr"/>
          <a:lstStyle/>
          <a:p>
            <a:pPr algn="r" indent="0" marL="0">
              <a:buNone/>
            </a:pPr>
            <a:r>
              <a:rPr lang="en-US" sz="1000" dirty="0">
                <a:solidFill>
                  <a:srgbClr val="6B74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300" b="1" spc="200" kern="0" dirty="0">
                <a:solidFill>
                  <a:srgbClr val="FF9900"/>
                </a:solidFill>
                <a:latin typeface="Calibri" pitchFamily="34" charset="0"/>
                <a:ea typeface="Calibri" pitchFamily="34" charset="-122"/>
                <a:cs typeface="Calibri" pitchFamily="34" charset="-120"/>
              </a:rPr>
              <a:t>STEP 5</a:t>
            </a:r>
            <a:endParaRPr lang="en-US" sz="1300" dirty="0"/>
          </a:p>
        </p:txBody>
      </p:sp>
      <p:sp>
        <p:nvSpPr>
          <p:cNvPr id="3" name="Text 1"/>
          <p:cNvSpPr txBox="1"/>
          <p:nvPr/>
        </p:nvSpPr>
        <p:spPr>
          <a:xfrm>
            <a:off x="548640" y="566928"/>
            <a:ext cx="10789920" cy="566928"/>
          </a:xfrm>
          <a:prstGeom prst="rect">
            <a:avLst/>
          </a:prstGeom>
          <a:noFill/>
          <a:ln/>
        </p:spPr>
        <p:txBody>
          <a:bodyPr wrap="square" lIns="0" tIns="0" rIns="0" bIns="0" rtlCol="0" anchor="ctr"/>
          <a:lstStyle/>
          <a:p>
            <a:pPr indent="0" marL="0">
              <a:buNone/>
            </a:pPr>
            <a:r>
              <a:rPr lang="en-US" sz="3000" b="1" dirty="0">
                <a:solidFill>
                  <a:srgbClr val="232F3E"/>
                </a:solidFill>
                <a:latin typeface="Cambria" pitchFamily="34" charset="0"/>
                <a:ea typeface="Cambria" pitchFamily="34" charset="-122"/>
                <a:cs typeface="Cambria" pitchFamily="34" charset="-120"/>
              </a:rPr>
              <a:t>Create IAM Users</a:t>
            </a:r>
            <a:endParaRPr lang="en-US" sz="3000" dirty="0"/>
          </a:p>
        </p:txBody>
      </p:sp>
      <p:sp>
        <p:nvSpPr>
          <p:cNvPr id="4" name="Shape 2"/>
          <p:cNvSpPr/>
          <p:nvPr/>
        </p:nvSpPr>
        <p:spPr>
          <a:xfrm>
            <a:off x="548640" y="1170432"/>
            <a:ext cx="11091672" cy="0"/>
          </a:xfrm>
          <a:prstGeom prst="line">
            <a:avLst/>
          </a:prstGeom>
          <a:noFill/>
          <a:ln w="12700">
            <a:solidFill>
              <a:srgbClr val="DDE1E6"/>
            </a:solidFill>
            <a:prstDash val="solid"/>
          </a:ln>
        </p:spPr>
      </p:sp>
      <p:sp>
        <p:nvSpPr>
          <p:cNvPr id="5" name="Text 3"/>
          <p:cNvSpPr txBox="1"/>
          <p:nvPr/>
        </p:nvSpPr>
        <p:spPr>
          <a:xfrm>
            <a:off x="548640" y="1371600"/>
            <a:ext cx="10881360" cy="548640"/>
          </a:xfrm>
          <a:prstGeom prst="rect">
            <a:avLst/>
          </a:prstGeom>
          <a:noFill/>
          <a:ln/>
        </p:spPr>
        <p:txBody>
          <a:bodyPr wrap="square" lIns="0" tIns="0" rIns="0" bIns="0" rtlCol="0" anchor="ctr"/>
          <a:lstStyle/>
          <a:p>
            <a:pPr indent="0" marL="0">
              <a:lnSpc>
                <a:spcPts val="2000"/>
              </a:lnSpc>
              <a:buNone/>
            </a:pPr>
            <a:r>
              <a:rPr lang="en-US" sz="1400" dirty="0">
                <a:solidFill>
                  <a:srgbClr val="6B7480"/>
                </a:solidFill>
                <a:latin typeface="Calibri" pitchFamily="34" charset="0"/>
                <a:ea typeface="Calibri" pitchFamily="34" charset="-122"/>
                <a:cs typeface="Calibri" pitchFamily="34" charset="-120"/>
              </a:rPr>
              <a:t>With groups and policies ready, individual IAM users are created next — User1 and User2 — each starting with zero group memberships until explicitly assigned.</a:t>
            </a:r>
            <a:endParaRPr lang="en-US" sz="1400" dirty="0"/>
          </a:p>
        </p:txBody>
      </p:sp>
      <p:sp>
        <p:nvSpPr>
          <p:cNvPr id="6" name="Shape 4"/>
          <p:cNvSpPr/>
          <p:nvPr/>
        </p:nvSpPr>
        <p:spPr>
          <a:xfrm>
            <a:off x="2295144" y="2091375"/>
            <a:ext cx="7571232" cy="4321170"/>
          </a:xfrm>
          <a:prstGeom prst="roundRect">
            <a:avLst>
              <a:gd name="adj" fmla="val 1270"/>
            </a:avLst>
          </a:prstGeom>
          <a:solidFill>
            <a:srgbClr val="FFFFFF"/>
          </a:solidFill>
          <a:ln w="12700">
            <a:solidFill>
              <a:srgbClr val="DDE1E6"/>
            </a:solidFill>
            <a:prstDash val="solid"/>
          </a:ln>
          <a:effectLst>
            <a:outerShdw sx="100000" sy="100000" kx="0" ky="0" algn="bl" rotWithShape="0" blurRad="127000" dist="38100" dir="5400000">
              <a:srgbClr val="1A1A1A">
                <a:alpha val="28000"/>
              </a:srgbClr>
            </a:outerShdw>
          </a:effectLst>
        </p:spPr>
      </p:sp>
      <p:pic>
        <p:nvPicPr>
          <p:cNvPr id="7" name="Image 0" descr="/home/claude/iam_ppt/images/IMG-20260831-WA0064.jpg">    </p:cNvPr>
          <p:cNvPicPr>
            <a:picLocks noChangeAspect="1"/>
          </p:cNvPicPr>
          <p:nvPr/>
        </p:nvPicPr>
        <p:blipFill>
          <a:blip r:embed="rId1"/>
          <a:stretch>
            <a:fillRect/>
          </a:stretch>
        </p:blipFill>
        <p:spPr>
          <a:xfrm>
            <a:off x="2377440" y="2173671"/>
            <a:ext cx="7406640" cy="4156578"/>
          </a:xfrm>
          <a:prstGeom prst="rect">
            <a:avLst/>
          </a:prstGeom>
        </p:spPr>
      </p:pic>
      <p:sp>
        <p:nvSpPr>
          <p:cNvPr id="8" name="Shape 5"/>
          <p:cNvSpPr/>
          <p:nvPr/>
        </p:nvSpPr>
        <p:spPr>
          <a:xfrm>
            <a:off x="2295144" y="2073087"/>
            <a:ext cx="777240" cy="292608"/>
          </a:xfrm>
          <a:prstGeom prst="roundRect">
            <a:avLst>
              <a:gd name="adj" fmla="val 18750"/>
            </a:avLst>
          </a:prstGeom>
          <a:solidFill>
            <a:srgbClr val="FF9900"/>
          </a:solidFill>
          <a:ln/>
        </p:spPr>
      </p:sp>
      <p:sp>
        <p:nvSpPr>
          <p:cNvPr id="9" name="Text 6"/>
          <p:cNvSpPr txBox="1"/>
          <p:nvPr/>
        </p:nvSpPr>
        <p:spPr>
          <a:xfrm>
            <a:off x="2295144" y="2073087"/>
            <a:ext cx="777240" cy="292608"/>
          </a:xfrm>
          <a:prstGeom prst="rect">
            <a:avLst/>
          </a:prstGeom>
          <a:noFill/>
          <a:ln/>
        </p:spPr>
        <p:txBody>
          <a:bodyPr wrap="square" lIns="0" tIns="0" rIns="0" bIns="0" rtlCol="0" anchor="ctr"/>
          <a:lstStyle/>
          <a:p>
            <a:pPr algn="ctr" indent="0" marL="0">
              <a:buNone/>
            </a:pPr>
            <a:r>
              <a:rPr lang="en-US" sz="1200" b="1" dirty="0">
                <a:solidFill>
                  <a:srgbClr val="16191F"/>
                </a:solidFill>
                <a:latin typeface="Calibri" pitchFamily="34" charset="0"/>
                <a:ea typeface="Calibri" pitchFamily="34" charset="-122"/>
                <a:cs typeface="Calibri" pitchFamily="34" charset="-120"/>
              </a:rPr>
              <a:t>2 Users</a:t>
            </a:r>
            <a:endParaRPr lang="en-US" sz="1200" dirty="0"/>
          </a:p>
        </p:txBody>
      </p:sp>
      <p:sp>
        <p:nvSpPr>
          <p:cNvPr id="10" name="Text 7"/>
          <p:cNvSpPr txBox="1"/>
          <p:nvPr/>
        </p:nvSpPr>
        <p:spPr>
          <a:xfrm>
            <a:off x="548640" y="6537960"/>
            <a:ext cx="548640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AWS IAM  •  Groups &amp; Permissions</a:t>
            </a:r>
            <a:endParaRPr lang="en-US" sz="1000" dirty="0"/>
          </a:p>
        </p:txBody>
      </p:sp>
      <p:sp>
        <p:nvSpPr>
          <p:cNvPr id="11" name="Text 8"/>
          <p:cNvSpPr txBox="1"/>
          <p:nvPr/>
        </p:nvSpPr>
        <p:spPr>
          <a:xfrm>
            <a:off x="11155680" y="6537960"/>
            <a:ext cx="457200" cy="256032"/>
          </a:xfrm>
          <a:prstGeom prst="rect">
            <a:avLst/>
          </a:prstGeom>
          <a:noFill/>
          <a:ln/>
        </p:spPr>
        <p:txBody>
          <a:bodyPr wrap="square" lIns="0" tIns="0" rIns="0" bIns="0" rtlCol="0" anchor="ctr"/>
          <a:lstStyle/>
          <a:p>
            <a:pPr algn="r" indent="0" marL="0">
              <a:buNone/>
            </a:pPr>
            <a:r>
              <a:rPr lang="en-US" sz="1000" dirty="0">
                <a:solidFill>
                  <a:srgbClr val="6B74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300" b="1" spc="200" kern="0" dirty="0">
                <a:solidFill>
                  <a:srgbClr val="FF9900"/>
                </a:solidFill>
                <a:latin typeface="Calibri" pitchFamily="34" charset="0"/>
                <a:ea typeface="Calibri" pitchFamily="34" charset="-122"/>
                <a:cs typeface="Calibri" pitchFamily="34" charset="-120"/>
              </a:rPr>
              <a:t>STEP 6</a:t>
            </a:r>
            <a:endParaRPr lang="en-US" sz="1300" dirty="0"/>
          </a:p>
        </p:txBody>
      </p:sp>
      <p:sp>
        <p:nvSpPr>
          <p:cNvPr id="3" name="Text 1"/>
          <p:cNvSpPr txBox="1"/>
          <p:nvPr/>
        </p:nvSpPr>
        <p:spPr>
          <a:xfrm>
            <a:off x="548640" y="566928"/>
            <a:ext cx="10789920" cy="566928"/>
          </a:xfrm>
          <a:prstGeom prst="rect">
            <a:avLst/>
          </a:prstGeom>
          <a:noFill/>
          <a:ln/>
        </p:spPr>
        <p:txBody>
          <a:bodyPr wrap="square" lIns="0" tIns="0" rIns="0" bIns="0" rtlCol="0" anchor="ctr"/>
          <a:lstStyle/>
          <a:p>
            <a:pPr indent="0" marL="0">
              <a:buNone/>
            </a:pPr>
            <a:r>
              <a:rPr lang="en-US" sz="3000" b="1" dirty="0">
                <a:solidFill>
                  <a:srgbClr val="232F3E"/>
                </a:solidFill>
                <a:latin typeface="Cambria" pitchFamily="34" charset="0"/>
                <a:ea typeface="Cambria" pitchFamily="34" charset="-122"/>
                <a:cs typeface="Cambria" pitchFamily="34" charset="-120"/>
              </a:rPr>
              <a:t>Assign User1 → Developers Group</a:t>
            </a:r>
            <a:endParaRPr lang="en-US" sz="3000" dirty="0"/>
          </a:p>
        </p:txBody>
      </p:sp>
      <p:sp>
        <p:nvSpPr>
          <p:cNvPr id="4" name="Shape 2"/>
          <p:cNvSpPr/>
          <p:nvPr/>
        </p:nvSpPr>
        <p:spPr>
          <a:xfrm>
            <a:off x="548640" y="1170432"/>
            <a:ext cx="11091672" cy="0"/>
          </a:xfrm>
          <a:prstGeom prst="line">
            <a:avLst/>
          </a:prstGeom>
          <a:noFill/>
          <a:ln w="12700">
            <a:solidFill>
              <a:srgbClr val="DDE1E6"/>
            </a:solidFill>
            <a:prstDash val="solid"/>
          </a:ln>
        </p:spPr>
      </p:sp>
      <p:sp>
        <p:nvSpPr>
          <p:cNvPr id="5" name="Text 3"/>
          <p:cNvSpPr txBox="1"/>
          <p:nvPr/>
        </p:nvSpPr>
        <p:spPr>
          <a:xfrm>
            <a:off x="548640" y="1371600"/>
            <a:ext cx="10881360" cy="548640"/>
          </a:xfrm>
          <a:prstGeom prst="rect">
            <a:avLst/>
          </a:prstGeom>
          <a:noFill/>
          <a:ln/>
        </p:spPr>
        <p:txBody>
          <a:bodyPr wrap="square" lIns="0" tIns="0" rIns="0" bIns="0" rtlCol="0" anchor="ctr"/>
          <a:lstStyle/>
          <a:p>
            <a:pPr indent="0" marL="0">
              <a:lnSpc>
                <a:spcPts val="2000"/>
              </a:lnSpc>
              <a:buNone/>
            </a:pPr>
            <a:r>
              <a:rPr lang="en-US" sz="1400" dirty="0">
                <a:solidFill>
                  <a:srgbClr val="6B7480"/>
                </a:solidFill>
                <a:latin typeface="Calibri" pitchFamily="34" charset="0"/>
                <a:ea typeface="Calibri" pitchFamily="34" charset="-122"/>
                <a:cs typeface="Calibri" pitchFamily="34" charset="-120"/>
              </a:rPr>
              <a:t>On User1's Groups tab, select Add user to groups, check Developers, and confirm. User1 immediately inherits the group's EC2 and S3 permissions.</a:t>
            </a:r>
            <a:endParaRPr lang="en-US" sz="1400" dirty="0"/>
          </a:p>
        </p:txBody>
      </p:sp>
      <p:sp>
        <p:nvSpPr>
          <p:cNvPr id="6" name="Shape 4"/>
          <p:cNvSpPr/>
          <p:nvPr/>
        </p:nvSpPr>
        <p:spPr>
          <a:xfrm>
            <a:off x="466344" y="2663333"/>
            <a:ext cx="5513832" cy="3177254"/>
          </a:xfrm>
          <a:prstGeom prst="roundRect">
            <a:avLst>
              <a:gd name="adj" fmla="val 1727"/>
            </a:avLst>
          </a:prstGeom>
          <a:solidFill>
            <a:srgbClr val="FFFFFF"/>
          </a:solidFill>
          <a:ln w="12700">
            <a:solidFill>
              <a:srgbClr val="DDE1E6"/>
            </a:solidFill>
            <a:prstDash val="solid"/>
          </a:ln>
          <a:effectLst>
            <a:outerShdw sx="100000" sy="100000" kx="0" ky="0" algn="bl" rotWithShape="0" blurRad="127000" dist="38100" dir="5400000">
              <a:srgbClr val="1A1A1A">
                <a:alpha val="28000"/>
              </a:srgbClr>
            </a:outerShdw>
          </a:effectLst>
        </p:spPr>
      </p:sp>
      <p:pic>
        <p:nvPicPr>
          <p:cNvPr id="7" name="Image 0" descr="/home/claude/iam_ppt/images/IMG-20260831-WA0066.jpg">    </p:cNvPr>
          <p:cNvPicPr>
            <a:picLocks noChangeAspect="1"/>
          </p:cNvPicPr>
          <p:nvPr/>
        </p:nvPicPr>
        <p:blipFill>
          <a:blip r:embed="rId1"/>
          <a:stretch>
            <a:fillRect/>
          </a:stretch>
        </p:blipFill>
        <p:spPr>
          <a:xfrm>
            <a:off x="548640" y="2745629"/>
            <a:ext cx="5349240" cy="3012662"/>
          </a:xfrm>
          <a:prstGeom prst="rect">
            <a:avLst/>
          </a:prstGeom>
        </p:spPr>
      </p:pic>
      <p:sp>
        <p:nvSpPr>
          <p:cNvPr id="8" name="Shape 5"/>
          <p:cNvSpPr/>
          <p:nvPr/>
        </p:nvSpPr>
        <p:spPr>
          <a:xfrm>
            <a:off x="466344" y="2645045"/>
            <a:ext cx="777240" cy="292608"/>
          </a:xfrm>
          <a:prstGeom prst="roundRect">
            <a:avLst>
              <a:gd name="adj" fmla="val 18750"/>
            </a:avLst>
          </a:prstGeom>
          <a:solidFill>
            <a:srgbClr val="FF9900"/>
          </a:solidFill>
          <a:ln/>
        </p:spPr>
      </p:sp>
      <p:sp>
        <p:nvSpPr>
          <p:cNvPr id="9" name="Text 6"/>
          <p:cNvSpPr txBox="1"/>
          <p:nvPr/>
        </p:nvSpPr>
        <p:spPr>
          <a:xfrm>
            <a:off x="466344" y="2645045"/>
            <a:ext cx="777240" cy="292608"/>
          </a:xfrm>
          <a:prstGeom prst="rect">
            <a:avLst/>
          </a:prstGeom>
          <a:noFill/>
          <a:ln/>
        </p:spPr>
        <p:txBody>
          <a:bodyPr wrap="square" lIns="0" tIns="0" rIns="0" bIns="0" rtlCol="0" anchor="ctr"/>
          <a:lstStyle/>
          <a:p>
            <a:pPr algn="ctr" indent="0" marL="0">
              <a:buNone/>
            </a:pPr>
            <a:r>
              <a:rPr lang="en-US" sz="1200" b="1" dirty="0">
                <a:solidFill>
                  <a:srgbClr val="16191F"/>
                </a:solidFill>
                <a:latin typeface="Calibri" pitchFamily="34" charset="0"/>
                <a:ea typeface="Calibri" pitchFamily="34" charset="-122"/>
                <a:cs typeface="Calibri" pitchFamily="34" charset="-120"/>
              </a:rPr>
              <a:t>Select</a:t>
            </a:r>
            <a:endParaRPr lang="en-US" sz="1200" dirty="0"/>
          </a:p>
        </p:txBody>
      </p:sp>
      <p:sp>
        <p:nvSpPr>
          <p:cNvPr id="10" name="Shape 7"/>
          <p:cNvSpPr/>
          <p:nvPr/>
        </p:nvSpPr>
        <p:spPr>
          <a:xfrm>
            <a:off x="6089904" y="2622804"/>
            <a:ext cx="5650992" cy="3258312"/>
          </a:xfrm>
          <a:prstGeom prst="roundRect">
            <a:avLst>
              <a:gd name="adj" fmla="val 1684"/>
            </a:avLst>
          </a:prstGeom>
          <a:solidFill>
            <a:srgbClr val="FFFFFF"/>
          </a:solidFill>
          <a:ln w="12700">
            <a:solidFill>
              <a:srgbClr val="DDE1E6"/>
            </a:solidFill>
            <a:prstDash val="solid"/>
          </a:ln>
          <a:effectLst>
            <a:outerShdw sx="100000" sy="100000" kx="0" ky="0" algn="bl" rotWithShape="0" blurRad="127000" dist="38100" dir="5400000">
              <a:srgbClr val="1A1A1A">
                <a:alpha val="28000"/>
              </a:srgbClr>
            </a:outerShdw>
          </a:effectLst>
        </p:spPr>
      </p:sp>
      <p:pic>
        <p:nvPicPr>
          <p:cNvPr id="11" name="Image 1" descr="/home/claude/iam_ppt/images/IMG-20260831-WA0068.jpg">    </p:cNvPr>
          <p:cNvPicPr>
            <a:picLocks noChangeAspect="1"/>
          </p:cNvPicPr>
          <p:nvPr/>
        </p:nvPicPr>
        <p:blipFill>
          <a:blip r:embed="rId2"/>
          <a:stretch>
            <a:fillRect/>
          </a:stretch>
        </p:blipFill>
        <p:spPr>
          <a:xfrm>
            <a:off x="6172200" y="2705100"/>
            <a:ext cx="5486400" cy="3093720"/>
          </a:xfrm>
          <a:prstGeom prst="rect">
            <a:avLst/>
          </a:prstGeom>
        </p:spPr>
      </p:pic>
      <p:sp>
        <p:nvSpPr>
          <p:cNvPr id="12" name="Shape 8"/>
          <p:cNvSpPr/>
          <p:nvPr/>
        </p:nvSpPr>
        <p:spPr>
          <a:xfrm>
            <a:off x="6089904" y="2604516"/>
            <a:ext cx="777240" cy="292608"/>
          </a:xfrm>
          <a:prstGeom prst="roundRect">
            <a:avLst>
              <a:gd name="adj" fmla="val 18750"/>
            </a:avLst>
          </a:prstGeom>
          <a:solidFill>
            <a:srgbClr val="FF9900"/>
          </a:solidFill>
          <a:ln/>
        </p:spPr>
      </p:sp>
      <p:sp>
        <p:nvSpPr>
          <p:cNvPr id="13" name="Text 9"/>
          <p:cNvSpPr txBox="1"/>
          <p:nvPr/>
        </p:nvSpPr>
        <p:spPr>
          <a:xfrm>
            <a:off x="6089904" y="2604516"/>
            <a:ext cx="777240" cy="292608"/>
          </a:xfrm>
          <a:prstGeom prst="rect">
            <a:avLst/>
          </a:prstGeom>
          <a:noFill/>
          <a:ln/>
        </p:spPr>
        <p:txBody>
          <a:bodyPr wrap="square" lIns="0" tIns="0" rIns="0" bIns="0" rtlCol="0" anchor="ctr"/>
          <a:lstStyle/>
          <a:p>
            <a:pPr algn="ctr" indent="0" marL="0">
              <a:buNone/>
            </a:pPr>
            <a:r>
              <a:rPr lang="en-US" sz="1200" b="1" dirty="0">
                <a:solidFill>
                  <a:srgbClr val="16191F"/>
                </a:solidFill>
                <a:latin typeface="Calibri" pitchFamily="34" charset="0"/>
                <a:ea typeface="Calibri" pitchFamily="34" charset="-122"/>
                <a:cs typeface="Calibri" pitchFamily="34" charset="-120"/>
              </a:rPr>
              <a:t>Confirmed</a:t>
            </a:r>
            <a:endParaRPr lang="en-US" sz="1200" dirty="0"/>
          </a:p>
        </p:txBody>
      </p:sp>
      <p:sp>
        <p:nvSpPr>
          <p:cNvPr id="14" name="Text 10"/>
          <p:cNvSpPr txBox="1"/>
          <p:nvPr/>
        </p:nvSpPr>
        <p:spPr>
          <a:xfrm>
            <a:off x="548640" y="6537960"/>
            <a:ext cx="548640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AWS IAM  •  Groups &amp; Permissions</a:t>
            </a:r>
            <a:endParaRPr lang="en-US" sz="1000" dirty="0"/>
          </a:p>
        </p:txBody>
      </p:sp>
      <p:sp>
        <p:nvSpPr>
          <p:cNvPr id="15" name="Text 11"/>
          <p:cNvSpPr txBox="1"/>
          <p:nvPr/>
        </p:nvSpPr>
        <p:spPr>
          <a:xfrm>
            <a:off x="11155680" y="6537960"/>
            <a:ext cx="457200" cy="256032"/>
          </a:xfrm>
          <a:prstGeom prst="rect">
            <a:avLst/>
          </a:prstGeom>
          <a:noFill/>
          <a:ln/>
        </p:spPr>
        <p:txBody>
          <a:bodyPr wrap="square" lIns="0" tIns="0" rIns="0" bIns="0" rtlCol="0" anchor="ctr"/>
          <a:lstStyle/>
          <a:p>
            <a:pPr algn="r" indent="0" marL="0">
              <a:buNone/>
            </a:pPr>
            <a:r>
              <a:rPr lang="en-US" sz="1000" dirty="0">
                <a:solidFill>
                  <a:srgbClr val="6B74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300" b="1" spc="200" kern="0" dirty="0">
                <a:solidFill>
                  <a:srgbClr val="FF9900"/>
                </a:solidFill>
                <a:latin typeface="Calibri" pitchFamily="34" charset="0"/>
                <a:ea typeface="Calibri" pitchFamily="34" charset="-122"/>
                <a:cs typeface="Calibri" pitchFamily="34" charset="-120"/>
              </a:rPr>
              <a:t>STEP 7</a:t>
            </a:r>
            <a:endParaRPr lang="en-US" sz="1300" dirty="0"/>
          </a:p>
        </p:txBody>
      </p:sp>
      <p:sp>
        <p:nvSpPr>
          <p:cNvPr id="3" name="Text 1"/>
          <p:cNvSpPr txBox="1"/>
          <p:nvPr/>
        </p:nvSpPr>
        <p:spPr>
          <a:xfrm>
            <a:off x="548640" y="566928"/>
            <a:ext cx="10789920" cy="566928"/>
          </a:xfrm>
          <a:prstGeom prst="rect">
            <a:avLst/>
          </a:prstGeom>
          <a:noFill/>
          <a:ln/>
        </p:spPr>
        <p:txBody>
          <a:bodyPr wrap="square" lIns="0" tIns="0" rIns="0" bIns="0" rtlCol="0" anchor="ctr"/>
          <a:lstStyle/>
          <a:p>
            <a:pPr indent="0" marL="0">
              <a:buNone/>
            </a:pPr>
            <a:r>
              <a:rPr lang="en-US" sz="3000" b="1" dirty="0">
                <a:solidFill>
                  <a:srgbClr val="232F3E"/>
                </a:solidFill>
                <a:latin typeface="Cambria" pitchFamily="34" charset="0"/>
                <a:ea typeface="Cambria" pitchFamily="34" charset="-122"/>
                <a:cs typeface="Cambria" pitchFamily="34" charset="-120"/>
              </a:rPr>
              <a:t>Assign User2 → Admins Group</a:t>
            </a:r>
            <a:endParaRPr lang="en-US" sz="3000" dirty="0"/>
          </a:p>
        </p:txBody>
      </p:sp>
      <p:sp>
        <p:nvSpPr>
          <p:cNvPr id="4" name="Shape 2"/>
          <p:cNvSpPr/>
          <p:nvPr/>
        </p:nvSpPr>
        <p:spPr>
          <a:xfrm>
            <a:off x="548640" y="1170432"/>
            <a:ext cx="11091672" cy="0"/>
          </a:xfrm>
          <a:prstGeom prst="line">
            <a:avLst/>
          </a:prstGeom>
          <a:noFill/>
          <a:ln w="12700">
            <a:solidFill>
              <a:srgbClr val="DDE1E6"/>
            </a:solidFill>
            <a:prstDash val="solid"/>
          </a:ln>
        </p:spPr>
      </p:sp>
      <p:sp>
        <p:nvSpPr>
          <p:cNvPr id="5" name="Text 3"/>
          <p:cNvSpPr txBox="1"/>
          <p:nvPr/>
        </p:nvSpPr>
        <p:spPr>
          <a:xfrm>
            <a:off x="548640" y="1371600"/>
            <a:ext cx="10881360" cy="548640"/>
          </a:xfrm>
          <a:prstGeom prst="rect">
            <a:avLst/>
          </a:prstGeom>
          <a:noFill/>
          <a:ln/>
        </p:spPr>
        <p:txBody>
          <a:bodyPr wrap="square" lIns="0" tIns="0" rIns="0" bIns="0" rtlCol="0" anchor="ctr"/>
          <a:lstStyle/>
          <a:p>
            <a:pPr indent="0" marL="0">
              <a:lnSpc>
                <a:spcPts val="2000"/>
              </a:lnSpc>
              <a:buNone/>
            </a:pPr>
            <a:r>
              <a:rPr lang="en-US" sz="1400" dirty="0">
                <a:solidFill>
                  <a:srgbClr val="6B7480"/>
                </a:solidFill>
                <a:latin typeface="Calibri" pitchFamily="34" charset="0"/>
                <a:ea typeface="Calibri" pitchFamily="34" charset="-122"/>
                <a:cs typeface="Calibri" pitchFamily="34" charset="-120"/>
              </a:rPr>
              <a:t>The same flow applies to User2: check Admins on the Add user to groups screen. User2 now holds AdministratorAccess through group membership.</a:t>
            </a:r>
            <a:endParaRPr lang="en-US" sz="1400" dirty="0"/>
          </a:p>
        </p:txBody>
      </p:sp>
      <p:sp>
        <p:nvSpPr>
          <p:cNvPr id="6" name="Shape 4"/>
          <p:cNvSpPr/>
          <p:nvPr/>
        </p:nvSpPr>
        <p:spPr>
          <a:xfrm>
            <a:off x="466344" y="2666356"/>
            <a:ext cx="5513832" cy="3171208"/>
          </a:xfrm>
          <a:prstGeom prst="roundRect">
            <a:avLst>
              <a:gd name="adj" fmla="val 1730"/>
            </a:avLst>
          </a:prstGeom>
          <a:solidFill>
            <a:srgbClr val="FFFFFF"/>
          </a:solidFill>
          <a:ln w="12700">
            <a:solidFill>
              <a:srgbClr val="DDE1E6"/>
            </a:solidFill>
            <a:prstDash val="solid"/>
          </a:ln>
          <a:effectLst>
            <a:outerShdw sx="100000" sy="100000" kx="0" ky="0" algn="bl" rotWithShape="0" blurRad="127000" dist="38100" dir="5400000">
              <a:srgbClr val="1A1A1A">
                <a:alpha val="28000"/>
              </a:srgbClr>
            </a:outerShdw>
          </a:effectLst>
        </p:spPr>
      </p:sp>
      <p:pic>
        <p:nvPicPr>
          <p:cNvPr id="7" name="Image 0" descr="/home/claude/iam_ppt/images/IMG-20260831-WA0070.jpg">    </p:cNvPr>
          <p:cNvPicPr>
            <a:picLocks noChangeAspect="1"/>
          </p:cNvPicPr>
          <p:nvPr/>
        </p:nvPicPr>
        <p:blipFill>
          <a:blip r:embed="rId1"/>
          <a:stretch>
            <a:fillRect/>
          </a:stretch>
        </p:blipFill>
        <p:spPr>
          <a:xfrm>
            <a:off x="548640" y="2748652"/>
            <a:ext cx="5349240" cy="3006616"/>
          </a:xfrm>
          <a:prstGeom prst="rect">
            <a:avLst/>
          </a:prstGeom>
        </p:spPr>
      </p:pic>
      <p:sp>
        <p:nvSpPr>
          <p:cNvPr id="8" name="Shape 5"/>
          <p:cNvSpPr/>
          <p:nvPr/>
        </p:nvSpPr>
        <p:spPr>
          <a:xfrm>
            <a:off x="466344" y="2648068"/>
            <a:ext cx="777240" cy="292608"/>
          </a:xfrm>
          <a:prstGeom prst="roundRect">
            <a:avLst>
              <a:gd name="adj" fmla="val 18750"/>
            </a:avLst>
          </a:prstGeom>
          <a:solidFill>
            <a:srgbClr val="FF9900"/>
          </a:solidFill>
          <a:ln/>
        </p:spPr>
      </p:sp>
      <p:sp>
        <p:nvSpPr>
          <p:cNvPr id="9" name="Text 6"/>
          <p:cNvSpPr txBox="1"/>
          <p:nvPr/>
        </p:nvSpPr>
        <p:spPr>
          <a:xfrm>
            <a:off x="466344" y="2648068"/>
            <a:ext cx="777240" cy="292608"/>
          </a:xfrm>
          <a:prstGeom prst="rect">
            <a:avLst/>
          </a:prstGeom>
          <a:noFill/>
          <a:ln/>
        </p:spPr>
        <p:txBody>
          <a:bodyPr wrap="square" lIns="0" tIns="0" rIns="0" bIns="0" rtlCol="0" anchor="ctr"/>
          <a:lstStyle/>
          <a:p>
            <a:pPr algn="ctr" indent="0" marL="0">
              <a:buNone/>
            </a:pPr>
            <a:r>
              <a:rPr lang="en-US" sz="1200" b="1" dirty="0">
                <a:solidFill>
                  <a:srgbClr val="16191F"/>
                </a:solidFill>
                <a:latin typeface="Calibri" pitchFamily="34" charset="0"/>
                <a:ea typeface="Calibri" pitchFamily="34" charset="-122"/>
                <a:cs typeface="Calibri" pitchFamily="34" charset="-120"/>
              </a:rPr>
              <a:t>Select</a:t>
            </a:r>
            <a:endParaRPr lang="en-US" sz="1200" dirty="0"/>
          </a:p>
        </p:txBody>
      </p:sp>
      <p:sp>
        <p:nvSpPr>
          <p:cNvPr id="10" name="Shape 7"/>
          <p:cNvSpPr/>
          <p:nvPr/>
        </p:nvSpPr>
        <p:spPr>
          <a:xfrm>
            <a:off x="6089904" y="2613022"/>
            <a:ext cx="5650992" cy="3277876"/>
          </a:xfrm>
          <a:prstGeom prst="roundRect">
            <a:avLst>
              <a:gd name="adj" fmla="val 1674"/>
            </a:avLst>
          </a:prstGeom>
          <a:solidFill>
            <a:srgbClr val="FFFFFF"/>
          </a:solidFill>
          <a:ln w="12700">
            <a:solidFill>
              <a:srgbClr val="DDE1E6"/>
            </a:solidFill>
            <a:prstDash val="solid"/>
          </a:ln>
          <a:effectLst>
            <a:outerShdw sx="100000" sy="100000" kx="0" ky="0" algn="bl" rotWithShape="0" blurRad="127000" dist="38100" dir="5400000">
              <a:srgbClr val="1A1A1A">
                <a:alpha val="28000"/>
              </a:srgbClr>
            </a:outerShdw>
          </a:effectLst>
        </p:spPr>
      </p:sp>
      <p:pic>
        <p:nvPicPr>
          <p:cNvPr id="11" name="Image 1" descr="/home/claude/iam_ppt/images/IMG-20260831-WA0072.jpg">    </p:cNvPr>
          <p:cNvPicPr>
            <a:picLocks noChangeAspect="1"/>
          </p:cNvPicPr>
          <p:nvPr/>
        </p:nvPicPr>
        <p:blipFill>
          <a:blip r:embed="rId2"/>
          <a:stretch>
            <a:fillRect/>
          </a:stretch>
        </p:blipFill>
        <p:spPr>
          <a:xfrm>
            <a:off x="6172200" y="2695318"/>
            <a:ext cx="5486400" cy="3113284"/>
          </a:xfrm>
          <a:prstGeom prst="rect">
            <a:avLst/>
          </a:prstGeom>
        </p:spPr>
      </p:pic>
      <p:sp>
        <p:nvSpPr>
          <p:cNvPr id="12" name="Shape 8"/>
          <p:cNvSpPr/>
          <p:nvPr/>
        </p:nvSpPr>
        <p:spPr>
          <a:xfrm>
            <a:off x="6089904" y="2594734"/>
            <a:ext cx="777240" cy="292608"/>
          </a:xfrm>
          <a:prstGeom prst="roundRect">
            <a:avLst>
              <a:gd name="adj" fmla="val 18750"/>
            </a:avLst>
          </a:prstGeom>
          <a:solidFill>
            <a:srgbClr val="FF9900"/>
          </a:solidFill>
          <a:ln/>
        </p:spPr>
      </p:sp>
      <p:sp>
        <p:nvSpPr>
          <p:cNvPr id="13" name="Text 9"/>
          <p:cNvSpPr txBox="1"/>
          <p:nvPr/>
        </p:nvSpPr>
        <p:spPr>
          <a:xfrm>
            <a:off x="6089904" y="2594734"/>
            <a:ext cx="777240" cy="292608"/>
          </a:xfrm>
          <a:prstGeom prst="rect">
            <a:avLst/>
          </a:prstGeom>
          <a:noFill/>
          <a:ln/>
        </p:spPr>
        <p:txBody>
          <a:bodyPr wrap="square" lIns="0" tIns="0" rIns="0" bIns="0" rtlCol="0" anchor="ctr"/>
          <a:lstStyle/>
          <a:p>
            <a:pPr algn="ctr" indent="0" marL="0">
              <a:buNone/>
            </a:pPr>
            <a:r>
              <a:rPr lang="en-US" sz="1200" b="1" dirty="0">
                <a:solidFill>
                  <a:srgbClr val="16191F"/>
                </a:solidFill>
                <a:latin typeface="Calibri" pitchFamily="34" charset="0"/>
                <a:ea typeface="Calibri" pitchFamily="34" charset="-122"/>
                <a:cs typeface="Calibri" pitchFamily="34" charset="-120"/>
              </a:rPr>
              <a:t>Confirmed</a:t>
            </a:r>
            <a:endParaRPr lang="en-US" sz="1200" dirty="0"/>
          </a:p>
        </p:txBody>
      </p:sp>
      <p:sp>
        <p:nvSpPr>
          <p:cNvPr id="14" name="Text 10"/>
          <p:cNvSpPr txBox="1"/>
          <p:nvPr/>
        </p:nvSpPr>
        <p:spPr>
          <a:xfrm>
            <a:off x="548640" y="6537960"/>
            <a:ext cx="548640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AWS IAM  •  Groups &amp; Permissions</a:t>
            </a:r>
            <a:endParaRPr lang="en-US" sz="1000" dirty="0"/>
          </a:p>
        </p:txBody>
      </p:sp>
      <p:sp>
        <p:nvSpPr>
          <p:cNvPr id="15" name="Text 11"/>
          <p:cNvSpPr txBox="1"/>
          <p:nvPr/>
        </p:nvSpPr>
        <p:spPr>
          <a:xfrm>
            <a:off x="11155680" y="6537960"/>
            <a:ext cx="457200" cy="256032"/>
          </a:xfrm>
          <a:prstGeom prst="rect">
            <a:avLst/>
          </a:prstGeom>
          <a:noFill/>
          <a:ln/>
        </p:spPr>
        <p:txBody>
          <a:bodyPr wrap="square" lIns="0" tIns="0" rIns="0" bIns="0" rtlCol="0" anchor="ctr"/>
          <a:lstStyle/>
          <a:p>
            <a:pPr algn="r" indent="0" marL="0">
              <a:buNone/>
            </a:pPr>
            <a:r>
              <a:rPr lang="en-US" sz="1000" dirty="0">
                <a:solidFill>
                  <a:srgbClr val="6B74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91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232F3E"/>
          </a:solidFill>
          <a:ln/>
        </p:spPr>
      </p:sp>
      <p:sp>
        <p:nvSpPr>
          <p:cNvPr id="3" name="Shape 1"/>
          <p:cNvSpPr/>
          <p:nvPr/>
        </p:nvSpPr>
        <p:spPr>
          <a:xfrm>
            <a:off x="-1005840" y="5212080"/>
            <a:ext cx="2926080" cy="2926080"/>
          </a:xfrm>
          <a:prstGeom prst="ellipse">
            <a:avLst/>
          </a:prstGeom>
          <a:solidFill>
            <a:srgbClr val="FF9900"/>
          </a:solidFill>
          <a:ln/>
        </p:spPr>
      </p:sp>
      <p:sp>
        <p:nvSpPr>
          <p:cNvPr id="4" name="Text 2"/>
          <p:cNvSpPr txBox="1"/>
          <p:nvPr/>
        </p:nvSpPr>
        <p:spPr>
          <a:xfrm>
            <a:off x="502920" y="640080"/>
            <a:ext cx="2743200" cy="274320"/>
          </a:xfrm>
          <a:prstGeom prst="rect">
            <a:avLst/>
          </a:prstGeom>
          <a:noFill/>
          <a:ln/>
        </p:spPr>
        <p:txBody>
          <a:bodyPr wrap="square" lIns="0" tIns="0" rIns="0" bIns="0" rtlCol="0" anchor="ctr"/>
          <a:lstStyle/>
          <a:p>
            <a:pPr indent="0" marL="0">
              <a:buNone/>
            </a:pPr>
            <a:r>
              <a:rPr lang="en-US" sz="1300" b="1" spc="300" kern="0" dirty="0">
                <a:solidFill>
                  <a:srgbClr val="FF9900"/>
                </a:solidFill>
                <a:latin typeface="Calibri" pitchFamily="34" charset="0"/>
                <a:ea typeface="Calibri" pitchFamily="34" charset="-122"/>
                <a:cs typeface="Calibri" pitchFamily="34" charset="-120"/>
              </a:rPr>
              <a:t>RECAP</a:t>
            </a:r>
            <a:endParaRPr lang="en-US" sz="1300" dirty="0"/>
          </a:p>
        </p:txBody>
      </p:sp>
      <p:sp>
        <p:nvSpPr>
          <p:cNvPr id="5" name="Text 3"/>
          <p:cNvSpPr txBox="1"/>
          <p:nvPr/>
        </p:nvSpPr>
        <p:spPr>
          <a:xfrm>
            <a:off x="457200" y="960120"/>
            <a:ext cx="3474720" cy="2011680"/>
          </a:xfrm>
          <a:prstGeom prst="rect">
            <a:avLst/>
          </a:prstGeom>
          <a:noFill/>
          <a:ln/>
        </p:spPr>
        <p:txBody>
          <a:bodyPr wrap="square" lIns="0" tIns="0" rIns="0" bIns="0" rtlCol="0" anchor="ctr"/>
          <a:lstStyle/>
          <a:p>
            <a:pPr indent="0" marL="0">
              <a:lnSpc>
                <a:spcPts val="3200"/>
              </a:lnSpc>
              <a:buNone/>
            </a:pPr>
            <a:r>
              <a:rPr lang="en-US" sz="2800" b="1" dirty="0">
                <a:solidFill>
                  <a:srgbClr val="FFFFFF"/>
                </a:solidFill>
                <a:latin typeface="Cambria" pitchFamily="34" charset="0"/>
                <a:ea typeface="Cambria" pitchFamily="34" charset="-122"/>
                <a:cs typeface="Cambria" pitchFamily="34" charset="-120"/>
              </a:rPr>
              <a:t>Group-Based</a:t>
            </a:r>
            <a:endParaRPr lang="en-US" sz="2800" dirty="0"/>
          </a:p>
          <a:p>
            <a:pPr indent="0" marL="0">
              <a:lnSpc>
                <a:spcPts val="3200"/>
              </a:lnSpc>
              <a:buNone/>
            </a:pPr>
            <a:r>
              <a:rPr lang="en-US" sz="2800" b="1" dirty="0">
                <a:solidFill>
                  <a:srgbClr val="FFFFFF"/>
                </a:solidFill>
                <a:latin typeface="Cambria" pitchFamily="34" charset="0"/>
                <a:ea typeface="Cambria" pitchFamily="34" charset="-122"/>
                <a:cs typeface="Cambria" pitchFamily="34" charset="-120"/>
              </a:rPr>
              <a:t>Access, Done</a:t>
            </a:r>
            <a:endParaRPr lang="en-US" sz="2800" dirty="0"/>
          </a:p>
          <a:p>
            <a:pPr indent="0" marL="0">
              <a:lnSpc>
                <a:spcPts val="3200"/>
              </a:lnSpc>
              <a:buNone/>
            </a:pPr>
            <a:r>
              <a:rPr lang="en-US" sz="2800" b="1" dirty="0">
                <a:solidFill>
                  <a:srgbClr val="FFFFFF"/>
                </a:solidFill>
                <a:latin typeface="Cambria" pitchFamily="34" charset="0"/>
                <a:ea typeface="Cambria" pitchFamily="34" charset="-122"/>
                <a:cs typeface="Cambria" pitchFamily="34" charset="-120"/>
              </a:rPr>
              <a:t>Right</a:t>
            </a:r>
            <a:endParaRPr lang="en-US" sz="2800" dirty="0"/>
          </a:p>
        </p:txBody>
      </p:sp>
      <p:sp>
        <p:nvSpPr>
          <p:cNvPr id="6" name="Text 4"/>
          <p:cNvSpPr txBox="1"/>
          <p:nvPr/>
        </p:nvSpPr>
        <p:spPr>
          <a:xfrm>
            <a:off x="502920" y="3063240"/>
            <a:ext cx="3291840" cy="640080"/>
          </a:xfrm>
          <a:prstGeom prst="rect">
            <a:avLst/>
          </a:prstGeom>
          <a:noFill/>
          <a:ln/>
        </p:spPr>
        <p:txBody>
          <a:bodyPr wrap="square" lIns="0" tIns="0" rIns="0" bIns="0" rtlCol="0" anchor="ctr"/>
          <a:lstStyle/>
          <a:p>
            <a:pPr indent="0" marL="0">
              <a:lnSpc>
                <a:spcPts val="1600"/>
              </a:lnSpc>
              <a:buNone/>
            </a:pPr>
            <a:r>
              <a:rPr lang="en-US" sz="1200" i="1" dirty="0">
                <a:solidFill>
                  <a:srgbClr val="C7CCD3"/>
                </a:solidFill>
                <a:latin typeface="Calibri" pitchFamily="34" charset="0"/>
                <a:ea typeface="Calibri" pitchFamily="34" charset="-122"/>
                <a:cs typeface="Calibri" pitchFamily="34" charset="-120"/>
              </a:rPr>
              <a:t>Console → Groups → Policies → Users → Assignment</a:t>
            </a:r>
            <a:endParaRPr lang="en-US" sz="1200" dirty="0"/>
          </a:p>
        </p:txBody>
      </p:sp>
      <p:sp>
        <p:nvSpPr>
          <p:cNvPr id="7" name="Shape 5"/>
          <p:cNvSpPr/>
          <p:nvPr/>
        </p:nvSpPr>
        <p:spPr>
          <a:xfrm>
            <a:off x="4617720" y="685800"/>
            <a:ext cx="457200" cy="457200"/>
          </a:xfrm>
          <a:prstGeom prst="ellipse">
            <a:avLst/>
          </a:prstGeom>
          <a:solidFill>
            <a:srgbClr val="FF9900"/>
          </a:solidFill>
          <a:ln/>
        </p:spPr>
      </p:sp>
      <p:sp>
        <p:nvSpPr>
          <p:cNvPr id="8" name="Text 6"/>
          <p:cNvSpPr txBox="1"/>
          <p:nvPr/>
        </p:nvSpPr>
        <p:spPr>
          <a:xfrm>
            <a:off x="4617720" y="685800"/>
            <a:ext cx="457200" cy="457200"/>
          </a:xfrm>
          <a:prstGeom prst="rect">
            <a:avLst/>
          </a:prstGeom>
          <a:noFill/>
          <a:ln/>
        </p:spPr>
        <p:txBody>
          <a:bodyPr wrap="square" lIns="0" tIns="0" rIns="0" bIns="0" rtlCol="0" anchor="ctr"/>
          <a:lstStyle/>
          <a:p>
            <a:pPr algn="ctr" indent="0" marL="0">
              <a:buNone/>
            </a:pPr>
            <a:r>
              <a:rPr lang="en-US" sz="2000" b="1" dirty="0">
                <a:solidFill>
                  <a:srgbClr val="16191F"/>
                </a:solidFill>
                <a:latin typeface="Calibri" pitchFamily="34" charset="0"/>
                <a:ea typeface="Calibri" pitchFamily="34" charset="-122"/>
                <a:cs typeface="Calibri" pitchFamily="34" charset="-120"/>
              </a:rPr>
              <a:t>1</a:t>
            </a:r>
            <a:endParaRPr lang="en-US" sz="2000" dirty="0"/>
          </a:p>
        </p:txBody>
      </p:sp>
      <p:sp>
        <p:nvSpPr>
          <p:cNvPr id="9" name="Text 7"/>
          <p:cNvSpPr txBox="1"/>
          <p:nvPr/>
        </p:nvSpPr>
        <p:spPr>
          <a:xfrm>
            <a:off x="5257800" y="658368"/>
            <a:ext cx="63093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Group first, assign second</a:t>
            </a:r>
            <a:endParaRPr lang="en-US" sz="1600" dirty="0"/>
          </a:p>
        </p:txBody>
      </p:sp>
      <p:sp>
        <p:nvSpPr>
          <p:cNvPr id="10" name="Text 8"/>
          <p:cNvSpPr txBox="1"/>
          <p:nvPr/>
        </p:nvSpPr>
        <p:spPr>
          <a:xfrm>
            <a:off x="5257800" y="1069848"/>
            <a:ext cx="6309360" cy="594360"/>
          </a:xfrm>
          <a:prstGeom prst="rect">
            <a:avLst/>
          </a:prstGeom>
          <a:noFill/>
          <a:ln/>
        </p:spPr>
        <p:txBody>
          <a:bodyPr wrap="square" lIns="0" tIns="0" rIns="0" bIns="0" rtlCol="0" anchor="ctr"/>
          <a:lstStyle/>
          <a:p>
            <a:pPr indent="0" marL="0">
              <a:lnSpc>
                <a:spcPts val="1700"/>
              </a:lnSpc>
              <a:buNone/>
            </a:pPr>
            <a:r>
              <a:rPr lang="en-US" sz="1250" dirty="0">
                <a:solidFill>
                  <a:srgbClr val="AEB6C2"/>
                </a:solidFill>
                <a:latin typeface="Calibri" pitchFamily="34" charset="0"/>
                <a:ea typeface="Calibri" pitchFamily="34" charset="-122"/>
                <a:cs typeface="Calibri" pitchFamily="34" charset="-120"/>
              </a:rPr>
              <a:t>Attach policies to groups, not individual users — it scales cleanly.</a:t>
            </a:r>
            <a:endParaRPr lang="en-US" sz="1250" dirty="0"/>
          </a:p>
        </p:txBody>
      </p:sp>
      <p:sp>
        <p:nvSpPr>
          <p:cNvPr id="11" name="Shape 9"/>
          <p:cNvSpPr/>
          <p:nvPr/>
        </p:nvSpPr>
        <p:spPr>
          <a:xfrm>
            <a:off x="4617720" y="1856232"/>
            <a:ext cx="6949440" cy="0"/>
          </a:xfrm>
          <a:prstGeom prst="line">
            <a:avLst/>
          </a:prstGeom>
          <a:noFill/>
          <a:ln w="12700">
            <a:solidFill>
              <a:srgbClr val="3B4552"/>
            </a:solidFill>
            <a:prstDash val="solid"/>
          </a:ln>
        </p:spPr>
      </p:sp>
      <p:sp>
        <p:nvSpPr>
          <p:cNvPr id="12" name="Shape 10"/>
          <p:cNvSpPr/>
          <p:nvPr/>
        </p:nvSpPr>
        <p:spPr>
          <a:xfrm>
            <a:off x="4617720" y="2103120"/>
            <a:ext cx="457200" cy="457200"/>
          </a:xfrm>
          <a:prstGeom prst="ellipse">
            <a:avLst/>
          </a:prstGeom>
          <a:solidFill>
            <a:srgbClr val="FF9900"/>
          </a:solidFill>
          <a:ln/>
        </p:spPr>
      </p:sp>
      <p:sp>
        <p:nvSpPr>
          <p:cNvPr id="13" name="Text 11"/>
          <p:cNvSpPr txBox="1"/>
          <p:nvPr/>
        </p:nvSpPr>
        <p:spPr>
          <a:xfrm>
            <a:off x="4617720" y="2103120"/>
            <a:ext cx="457200" cy="457200"/>
          </a:xfrm>
          <a:prstGeom prst="rect">
            <a:avLst/>
          </a:prstGeom>
          <a:noFill/>
          <a:ln/>
        </p:spPr>
        <p:txBody>
          <a:bodyPr wrap="square" lIns="0" tIns="0" rIns="0" bIns="0" rtlCol="0" anchor="ctr"/>
          <a:lstStyle/>
          <a:p>
            <a:pPr algn="ctr" indent="0" marL="0">
              <a:buNone/>
            </a:pPr>
            <a:r>
              <a:rPr lang="en-US" sz="2000" b="1" dirty="0">
                <a:solidFill>
                  <a:srgbClr val="16191F"/>
                </a:solidFill>
                <a:latin typeface="Calibri" pitchFamily="34" charset="0"/>
                <a:ea typeface="Calibri" pitchFamily="34" charset="-122"/>
                <a:cs typeface="Calibri" pitchFamily="34" charset="-120"/>
              </a:rPr>
              <a:t>2</a:t>
            </a:r>
            <a:endParaRPr lang="en-US" sz="2000" dirty="0"/>
          </a:p>
        </p:txBody>
      </p:sp>
      <p:sp>
        <p:nvSpPr>
          <p:cNvPr id="14" name="Text 12"/>
          <p:cNvSpPr txBox="1"/>
          <p:nvPr/>
        </p:nvSpPr>
        <p:spPr>
          <a:xfrm>
            <a:off x="5257800" y="2075688"/>
            <a:ext cx="63093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Apply least privilege</a:t>
            </a:r>
            <a:endParaRPr lang="en-US" sz="1600" dirty="0"/>
          </a:p>
        </p:txBody>
      </p:sp>
      <p:sp>
        <p:nvSpPr>
          <p:cNvPr id="15" name="Text 13"/>
          <p:cNvSpPr txBox="1"/>
          <p:nvPr/>
        </p:nvSpPr>
        <p:spPr>
          <a:xfrm>
            <a:off x="5257800" y="2487168"/>
            <a:ext cx="6309360" cy="594360"/>
          </a:xfrm>
          <a:prstGeom prst="rect">
            <a:avLst/>
          </a:prstGeom>
          <a:noFill/>
          <a:ln/>
        </p:spPr>
        <p:txBody>
          <a:bodyPr wrap="square" lIns="0" tIns="0" rIns="0" bIns="0" rtlCol="0" anchor="ctr"/>
          <a:lstStyle/>
          <a:p>
            <a:pPr indent="0" marL="0">
              <a:lnSpc>
                <a:spcPts val="1700"/>
              </a:lnSpc>
              <a:buNone/>
            </a:pPr>
            <a:r>
              <a:rPr lang="en-US" sz="1250" dirty="0">
                <a:solidFill>
                  <a:srgbClr val="AEB6C2"/>
                </a:solidFill>
                <a:latin typeface="Calibri" pitchFamily="34" charset="0"/>
                <a:ea typeface="Calibri" pitchFamily="34" charset="-122"/>
                <a:cs typeface="Calibri" pitchFamily="34" charset="-120"/>
              </a:rPr>
              <a:t>Give each group only the access its role actually needs.</a:t>
            </a:r>
            <a:endParaRPr lang="en-US" sz="1250" dirty="0"/>
          </a:p>
        </p:txBody>
      </p:sp>
      <p:sp>
        <p:nvSpPr>
          <p:cNvPr id="16" name="Shape 14"/>
          <p:cNvSpPr/>
          <p:nvPr/>
        </p:nvSpPr>
        <p:spPr>
          <a:xfrm>
            <a:off x="4617720" y="3273552"/>
            <a:ext cx="6949440" cy="0"/>
          </a:xfrm>
          <a:prstGeom prst="line">
            <a:avLst/>
          </a:prstGeom>
          <a:noFill/>
          <a:ln w="12700">
            <a:solidFill>
              <a:srgbClr val="3B4552"/>
            </a:solidFill>
            <a:prstDash val="solid"/>
          </a:ln>
        </p:spPr>
      </p:sp>
      <p:sp>
        <p:nvSpPr>
          <p:cNvPr id="17" name="Shape 15"/>
          <p:cNvSpPr/>
          <p:nvPr/>
        </p:nvSpPr>
        <p:spPr>
          <a:xfrm>
            <a:off x="4617720" y="3520440"/>
            <a:ext cx="457200" cy="457200"/>
          </a:xfrm>
          <a:prstGeom prst="ellipse">
            <a:avLst/>
          </a:prstGeom>
          <a:solidFill>
            <a:srgbClr val="FF9900"/>
          </a:solidFill>
          <a:ln/>
        </p:spPr>
      </p:sp>
      <p:sp>
        <p:nvSpPr>
          <p:cNvPr id="18" name="Text 16"/>
          <p:cNvSpPr txBox="1"/>
          <p:nvPr/>
        </p:nvSpPr>
        <p:spPr>
          <a:xfrm>
            <a:off x="4617720" y="3520440"/>
            <a:ext cx="457200" cy="457200"/>
          </a:xfrm>
          <a:prstGeom prst="rect">
            <a:avLst/>
          </a:prstGeom>
          <a:noFill/>
          <a:ln/>
        </p:spPr>
        <p:txBody>
          <a:bodyPr wrap="square" lIns="0" tIns="0" rIns="0" bIns="0" rtlCol="0" anchor="ctr"/>
          <a:lstStyle/>
          <a:p>
            <a:pPr algn="ctr" indent="0" marL="0">
              <a:buNone/>
            </a:pPr>
            <a:r>
              <a:rPr lang="en-US" sz="2000" b="1" dirty="0">
                <a:solidFill>
                  <a:srgbClr val="16191F"/>
                </a:solidFill>
                <a:latin typeface="Calibri" pitchFamily="34" charset="0"/>
                <a:ea typeface="Calibri" pitchFamily="34" charset="-122"/>
                <a:cs typeface="Calibri" pitchFamily="34" charset="-120"/>
              </a:rPr>
              <a:t>3</a:t>
            </a:r>
            <a:endParaRPr lang="en-US" sz="2000" dirty="0"/>
          </a:p>
        </p:txBody>
      </p:sp>
      <p:sp>
        <p:nvSpPr>
          <p:cNvPr id="19" name="Text 17"/>
          <p:cNvSpPr txBox="1"/>
          <p:nvPr/>
        </p:nvSpPr>
        <p:spPr>
          <a:xfrm>
            <a:off x="5257800" y="3493008"/>
            <a:ext cx="63093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Use clear naming</a:t>
            </a:r>
            <a:endParaRPr lang="en-US" sz="1600" dirty="0"/>
          </a:p>
        </p:txBody>
      </p:sp>
      <p:sp>
        <p:nvSpPr>
          <p:cNvPr id="20" name="Text 18"/>
          <p:cNvSpPr txBox="1"/>
          <p:nvPr/>
        </p:nvSpPr>
        <p:spPr>
          <a:xfrm>
            <a:off x="5257800" y="3904488"/>
            <a:ext cx="6309360" cy="594360"/>
          </a:xfrm>
          <a:prstGeom prst="rect">
            <a:avLst/>
          </a:prstGeom>
          <a:noFill/>
          <a:ln/>
        </p:spPr>
        <p:txBody>
          <a:bodyPr wrap="square" lIns="0" tIns="0" rIns="0" bIns="0" rtlCol="0" anchor="ctr"/>
          <a:lstStyle/>
          <a:p>
            <a:pPr indent="0" marL="0">
              <a:lnSpc>
                <a:spcPts val="1700"/>
              </a:lnSpc>
              <a:buNone/>
            </a:pPr>
            <a:r>
              <a:rPr lang="en-US" sz="1250" dirty="0">
                <a:solidFill>
                  <a:srgbClr val="AEB6C2"/>
                </a:solidFill>
                <a:latin typeface="Calibri" pitchFamily="34" charset="0"/>
                <a:ea typeface="Calibri" pitchFamily="34" charset="-122"/>
                <a:cs typeface="Calibri" pitchFamily="34" charset="-120"/>
              </a:rPr>
              <a:t>Names like “Developers” and “Admins” keep audits simple.</a:t>
            </a:r>
            <a:endParaRPr lang="en-US" sz="1250" dirty="0"/>
          </a:p>
        </p:txBody>
      </p:sp>
      <p:sp>
        <p:nvSpPr>
          <p:cNvPr id="21" name="Shape 19"/>
          <p:cNvSpPr/>
          <p:nvPr/>
        </p:nvSpPr>
        <p:spPr>
          <a:xfrm>
            <a:off x="4617720" y="4690872"/>
            <a:ext cx="6949440" cy="0"/>
          </a:xfrm>
          <a:prstGeom prst="line">
            <a:avLst/>
          </a:prstGeom>
          <a:noFill/>
          <a:ln w="12700">
            <a:solidFill>
              <a:srgbClr val="3B4552"/>
            </a:solidFill>
            <a:prstDash val="solid"/>
          </a:ln>
        </p:spPr>
      </p:sp>
      <p:sp>
        <p:nvSpPr>
          <p:cNvPr id="22" name="Shape 20"/>
          <p:cNvSpPr/>
          <p:nvPr/>
        </p:nvSpPr>
        <p:spPr>
          <a:xfrm>
            <a:off x="4617720" y="4937760"/>
            <a:ext cx="457200" cy="457200"/>
          </a:xfrm>
          <a:prstGeom prst="ellipse">
            <a:avLst/>
          </a:prstGeom>
          <a:solidFill>
            <a:srgbClr val="FF9900"/>
          </a:solidFill>
          <a:ln/>
        </p:spPr>
      </p:sp>
      <p:sp>
        <p:nvSpPr>
          <p:cNvPr id="23" name="Text 21"/>
          <p:cNvSpPr txBox="1"/>
          <p:nvPr/>
        </p:nvSpPr>
        <p:spPr>
          <a:xfrm>
            <a:off x="4617720" y="4937760"/>
            <a:ext cx="457200" cy="457200"/>
          </a:xfrm>
          <a:prstGeom prst="rect">
            <a:avLst/>
          </a:prstGeom>
          <a:noFill/>
          <a:ln/>
        </p:spPr>
        <p:txBody>
          <a:bodyPr wrap="square" lIns="0" tIns="0" rIns="0" bIns="0" rtlCol="0" anchor="ctr"/>
          <a:lstStyle/>
          <a:p>
            <a:pPr algn="ctr" indent="0" marL="0">
              <a:buNone/>
            </a:pPr>
            <a:r>
              <a:rPr lang="en-US" sz="2000" b="1" dirty="0">
                <a:solidFill>
                  <a:srgbClr val="16191F"/>
                </a:solidFill>
                <a:latin typeface="Calibri" pitchFamily="34" charset="0"/>
                <a:ea typeface="Calibri" pitchFamily="34" charset="-122"/>
                <a:cs typeface="Calibri" pitchFamily="34" charset="-120"/>
              </a:rPr>
              <a:t>4</a:t>
            </a:r>
            <a:endParaRPr lang="en-US" sz="2000" dirty="0"/>
          </a:p>
        </p:txBody>
      </p:sp>
      <p:sp>
        <p:nvSpPr>
          <p:cNvPr id="24" name="Text 22"/>
          <p:cNvSpPr txBox="1"/>
          <p:nvPr/>
        </p:nvSpPr>
        <p:spPr>
          <a:xfrm>
            <a:off x="5257800" y="4910328"/>
            <a:ext cx="63093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Review regularly</a:t>
            </a:r>
            <a:endParaRPr lang="en-US" sz="1600" dirty="0"/>
          </a:p>
        </p:txBody>
      </p:sp>
      <p:sp>
        <p:nvSpPr>
          <p:cNvPr id="25" name="Text 23"/>
          <p:cNvSpPr txBox="1"/>
          <p:nvPr/>
        </p:nvSpPr>
        <p:spPr>
          <a:xfrm>
            <a:off x="5257800" y="5321808"/>
            <a:ext cx="6309360" cy="594360"/>
          </a:xfrm>
          <a:prstGeom prst="rect">
            <a:avLst/>
          </a:prstGeom>
          <a:noFill/>
          <a:ln/>
        </p:spPr>
        <p:txBody>
          <a:bodyPr wrap="square" lIns="0" tIns="0" rIns="0" bIns="0" rtlCol="0" anchor="ctr"/>
          <a:lstStyle/>
          <a:p>
            <a:pPr indent="0" marL="0">
              <a:lnSpc>
                <a:spcPts val="1700"/>
              </a:lnSpc>
              <a:buNone/>
            </a:pPr>
            <a:r>
              <a:rPr lang="en-US" sz="1250" dirty="0">
                <a:solidFill>
                  <a:srgbClr val="AEB6C2"/>
                </a:solidFill>
                <a:latin typeface="Calibri" pitchFamily="34" charset="0"/>
                <a:ea typeface="Calibri" pitchFamily="34" charset="-122"/>
                <a:cs typeface="Calibri" pitchFamily="34" charset="-120"/>
              </a:rPr>
              <a:t>Use Access Analyzer and the Policy Simulator to check unused access.</a:t>
            </a:r>
            <a:endParaRPr lang="en-US" sz="1250" dirty="0"/>
          </a:p>
        </p:txBody>
      </p:sp>
      <p:sp>
        <p:nvSpPr>
          <p:cNvPr id="26" name="Text 24"/>
          <p:cNvSpPr txBox="1"/>
          <p:nvPr/>
        </p:nvSpPr>
        <p:spPr>
          <a:xfrm>
            <a:off x="4617720" y="6263640"/>
            <a:ext cx="5486400" cy="365760"/>
          </a:xfrm>
          <a:prstGeom prst="rect">
            <a:avLst/>
          </a:prstGeom>
          <a:noFill/>
          <a:ln/>
        </p:spPr>
        <p:txBody>
          <a:bodyPr wrap="square" lIns="0" tIns="0" rIns="0" bIns="0" rtlCol="0" anchor="ctr"/>
          <a:lstStyle/>
          <a:p>
            <a:pPr indent="0" marL="0">
              <a:buNone/>
            </a:pPr>
            <a:r>
              <a:rPr lang="en-US" sz="1300" b="1" dirty="0">
                <a:solidFill>
                  <a:srgbClr val="FF9900"/>
                </a:solidFill>
                <a:latin typeface="Calibri" pitchFamily="34" charset="0"/>
                <a:ea typeface="Calibri" pitchFamily="34" charset="-122"/>
                <a:cs typeface="Calibri" pitchFamily="34" charset="-120"/>
              </a:rPr>
              <a:t>Thank you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2026-09-01T12:52:24Z</dcterms:created>
  <dcterms:modified xsi:type="dcterms:W3CDTF">2026-09-01T12:52:24Z</dcterms:modified>
</cp:coreProperties>
</file>